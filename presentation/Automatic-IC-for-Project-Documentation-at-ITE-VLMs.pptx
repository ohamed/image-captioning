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7" r:id="rId11"/>
    <p:sldId id="268" r:id="rId12"/>
    <p:sldId id="264" r:id="rId13"/>
    <p:sldId id="265" r:id="rId14"/>
  </p:sldIdLst>
  <p:sldSz cx="9144000" cy="5143500" type="screen16x9"/>
  <p:notesSz cx="5143500" cy="9144000"/>
  <p:embeddedFontLst>
    <p:embeddedFont>
      <p:font typeface="Raleway" pitchFamily="2" charset="0"/>
      <p:regular r:id="rId16"/>
    </p:embeddedFont>
    <p:embeddedFont>
      <p:font typeface="Roboto" panose="02000000000000000000" pitchFamily="2" charset="0"/>
      <p:regular r:id="rId17"/>
      <p:bold r:id="rId18"/>
      <p:italic r:id="rId19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07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4B4D71-6311-4D7A-B58E-3CF36A6098D0}" type="doc">
      <dgm:prSet loTypeId="urn:microsoft.com/office/officeart/2011/layout/TabList" loCatId="officeonline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de-DE"/>
        </a:p>
      </dgm:t>
    </dgm:pt>
    <dgm:pt modelId="{0C78341E-759D-49FE-A468-24ED0DD4BB39}">
      <dgm:prSet phldrT="[Text]" phldr="0"/>
      <dgm:spPr/>
      <dgm:t>
        <a:bodyPr/>
        <a:lstStyle/>
        <a:p>
          <a:r>
            <a:rPr lang="de-DE" dirty="0">
              <a:solidFill>
                <a:schemeClr val="tx1"/>
              </a:solidFill>
              <a:latin typeface="Raleway" pitchFamily="2" charset="0"/>
            </a:rPr>
            <a:t>Moondream</a:t>
          </a:r>
        </a:p>
      </dgm:t>
    </dgm:pt>
    <dgm:pt modelId="{E97C561F-DB85-46DA-841A-D6E883C95C22}" type="parTrans" cxnId="{B8675117-752A-4500-B2BA-8D5DE75DC17F}">
      <dgm:prSet/>
      <dgm:spPr/>
      <dgm:t>
        <a:bodyPr/>
        <a:lstStyle/>
        <a:p>
          <a:endParaRPr lang="de-DE"/>
        </a:p>
      </dgm:t>
    </dgm:pt>
    <dgm:pt modelId="{F4010813-5DCF-4C43-85C3-813BA1BD86A9}" type="sibTrans" cxnId="{B8675117-752A-4500-B2BA-8D5DE75DC17F}">
      <dgm:prSet/>
      <dgm:spPr/>
      <dgm:t>
        <a:bodyPr/>
        <a:lstStyle/>
        <a:p>
          <a:endParaRPr lang="de-DE"/>
        </a:p>
      </dgm:t>
    </dgm:pt>
    <dgm:pt modelId="{BF8779A3-EFA5-485B-B7D2-BD048792EF5E}">
      <dgm:prSet phldrT="[Text]" phldr="0"/>
      <dgm:spPr/>
      <dgm:t>
        <a:bodyPr/>
        <a:lstStyle/>
        <a:p>
          <a:r>
            <a:rPr lang="de-DE" dirty="0">
              <a:latin typeface="Raleway" pitchFamily="2" charset="0"/>
              <a:ea typeface="Roboto" panose="02000000000000000000" pitchFamily="2" charset="0"/>
              <a:cs typeface="Roboto" panose="02000000000000000000" pitchFamily="2" charset="0"/>
            </a:rPr>
            <a:t>1.8b</a:t>
          </a:r>
        </a:p>
      </dgm:t>
    </dgm:pt>
    <dgm:pt modelId="{29C75388-66EB-43F0-9F66-F7FD9ACED632}" type="parTrans" cxnId="{4927F5C1-C210-4BE6-A9A5-F1D49100E562}">
      <dgm:prSet/>
      <dgm:spPr/>
      <dgm:t>
        <a:bodyPr/>
        <a:lstStyle/>
        <a:p>
          <a:endParaRPr lang="de-DE"/>
        </a:p>
      </dgm:t>
    </dgm:pt>
    <dgm:pt modelId="{2D3C61BE-8B7B-4201-8A42-6CA638488D7F}" type="sibTrans" cxnId="{4927F5C1-C210-4BE6-A9A5-F1D49100E562}">
      <dgm:prSet/>
      <dgm:spPr/>
      <dgm:t>
        <a:bodyPr/>
        <a:lstStyle/>
        <a:p>
          <a:endParaRPr lang="de-DE"/>
        </a:p>
      </dgm:t>
    </dgm:pt>
    <dgm:pt modelId="{57E1EE4F-C77B-4EB9-8184-D6EAF878B828}">
      <dgm:prSet phldrT="[Text]" phldr="0"/>
      <dgm:spPr/>
      <dgm:t>
        <a:bodyPr/>
        <a:lstStyle/>
        <a:p>
          <a:r>
            <a:rPr lang="de-D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Ground Truth: Two wooden crates stacked on top of each other, each labeled with a number.</a:t>
          </a:r>
        </a:p>
      </dgm:t>
    </dgm:pt>
    <dgm:pt modelId="{65E8642A-F94F-43E1-BCA1-9FAF464D9CA5}" type="parTrans" cxnId="{4DA48A8E-E59B-4C11-8C6C-215BA250D9E8}">
      <dgm:prSet/>
      <dgm:spPr/>
      <dgm:t>
        <a:bodyPr/>
        <a:lstStyle/>
        <a:p>
          <a:endParaRPr lang="de-DE"/>
        </a:p>
      </dgm:t>
    </dgm:pt>
    <dgm:pt modelId="{EB209098-9C5D-45CE-A9A4-9E5AF90C59EA}" type="sibTrans" cxnId="{4DA48A8E-E59B-4C11-8C6C-215BA250D9E8}">
      <dgm:prSet/>
      <dgm:spPr/>
      <dgm:t>
        <a:bodyPr/>
        <a:lstStyle/>
        <a:p>
          <a:endParaRPr lang="de-DE"/>
        </a:p>
      </dgm:t>
    </dgm:pt>
    <dgm:pt modelId="{FB12279F-B540-4EAD-BF4E-7B934F8E4D27}">
      <dgm:prSet phldrT="[Text]" phldr="0"/>
      <dgm:spPr/>
      <dgm:t>
        <a:bodyPr/>
        <a:lstStyle/>
        <a:p>
          <a:r>
            <a:rPr lang="de-D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AI Captions: Containers on top of each other in a warehouse.</a:t>
          </a:r>
        </a:p>
      </dgm:t>
    </dgm:pt>
    <dgm:pt modelId="{B2CDC885-AE61-4691-9B08-3DB81F055E7B}" type="parTrans" cxnId="{2CCA9E96-3986-4DE1-947C-401E36347C77}">
      <dgm:prSet/>
      <dgm:spPr/>
      <dgm:t>
        <a:bodyPr/>
        <a:lstStyle/>
        <a:p>
          <a:endParaRPr lang="de-DE"/>
        </a:p>
      </dgm:t>
    </dgm:pt>
    <dgm:pt modelId="{C2B786F7-9B62-4396-8E3E-3CD29558F220}" type="sibTrans" cxnId="{2CCA9E96-3986-4DE1-947C-401E36347C77}">
      <dgm:prSet/>
      <dgm:spPr/>
      <dgm:t>
        <a:bodyPr/>
        <a:lstStyle/>
        <a:p>
          <a:endParaRPr lang="de-DE"/>
        </a:p>
      </dgm:t>
    </dgm:pt>
    <dgm:pt modelId="{EB59EAD4-055A-4EB3-9268-17165F7D229E}" type="pres">
      <dgm:prSet presAssocID="{8D4B4D71-6311-4D7A-B58E-3CF36A6098D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E7BBA875-670C-4157-A7A8-10B546BD42E9}" type="pres">
      <dgm:prSet presAssocID="{0C78341E-759D-49FE-A468-24ED0DD4BB39}" presName="composite" presStyleCnt="0"/>
      <dgm:spPr/>
    </dgm:pt>
    <dgm:pt modelId="{561D90EE-E6F0-4760-9832-22E5AAE5E477}" type="pres">
      <dgm:prSet presAssocID="{0C78341E-759D-49FE-A468-24ED0DD4BB39}" presName="FirstChild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24DA7730-927D-42CB-8ED5-8FD998B69726}" type="pres">
      <dgm:prSet presAssocID="{0C78341E-759D-49FE-A468-24ED0DD4BB39}" presName="Parent" presStyleLbl="alignNode1" presStyleIdx="0" presStyleCnt="1">
        <dgm:presLayoutVars>
          <dgm:chMax val="3"/>
          <dgm:chPref val="3"/>
          <dgm:bulletEnabled val="1"/>
        </dgm:presLayoutVars>
      </dgm:prSet>
      <dgm:spPr/>
    </dgm:pt>
    <dgm:pt modelId="{7755493C-1CBE-40D0-B6A0-0237B08AE5EF}" type="pres">
      <dgm:prSet presAssocID="{0C78341E-759D-49FE-A468-24ED0DD4BB39}" presName="Accent" presStyleLbl="parChTrans1D1" presStyleIdx="0" presStyleCnt="1"/>
      <dgm:spPr/>
    </dgm:pt>
    <dgm:pt modelId="{3968B64B-4822-47DF-A282-627BE788FAEB}" type="pres">
      <dgm:prSet presAssocID="{0C78341E-759D-49FE-A468-24ED0DD4BB39}" presName="Child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8675117-752A-4500-B2BA-8D5DE75DC17F}" srcId="{8D4B4D71-6311-4D7A-B58E-3CF36A6098D0}" destId="{0C78341E-759D-49FE-A468-24ED0DD4BB39}" srcOrd="0" destOrd="0" parTransId="{E97C561F-DB85-46DA-841A-D6E883C95C22}" sibTransId="{F4010813-5DCF-4C43-85C3-813BA1BD86A9}"/>
    <dgm:cxn modelId="{FF24C06A-5423-4C07-82D7-0267F7DDC40C}" type="presOf" srcId="{BF8779A3-EFA5-485B-B7D2-BD048792EF5E}" destId="{561D90EE-E6F0-4760-9832-22E5AAE5E477}" srcOrd="0" destOrd="0" presId="urn:microsoft.com/office/officeart/2011/layout/TabList"/>
    <dgm:cxn modelId="{44B2814B-E3B7-444C-8693-A77B1B60F116}" type="presOf" srcId="{FB12279F-B540-4EAD-BF4E-7B934F8E4D27}" destId="{3968B64B-4822-47DF-A282-627BE788FAEB}" srcOrd="0" destOrd="1" presId="urn:microsoft.com/office/officeart/2011/layout/TabList"/>
    <dgm:cxn modelId="{4DA48A8E-E59B-4C11-8C6C-215BA250D9E8}" srcId="{0C78341E-759D-49FE-A468-24ED0DD4BB39}" destId="{57E1EE4F-C77B-4EB9-8184-D6EAF878B828}" srcOrd="1" destOrd="0" parTransId="{65E8642A-F94F-43E1-BCA1-9FAF464D9CA5}" sibTransId="{EB209098-9C5D-45CE-A9A4-9E5AF90C59EA}"/>
    <dgm:cxn modelId="{2CCA9E96-3986-4DE1-947C-401E36347C77}" srcId="{0C78341E-759D-49FE-A468-24ED0DD4BB39}" destId="{FB12279F-B540-4EAD-BF4E-7B934F8E4D27}" srcOrd="2" destOrd="0" parTransId="{B2CDC885-AE61-4691-9B08-3DB81F055E7B}" sibTransId="{C2B786F7-9B62-4396-8E3E-3CD29558F220}"/>
    <dgm:cxn modelId="{25FD4D9C-7EAC-4A10-B3C0-DA52C746D3ED}" type="presOf" srcId="{8D4B4D71-6311-4D7A-B58E-3CF36A6098D0}" destId="{EB59EAD4-055A-4EB3-9268-17165F7D229E}" srcOrd="0" destOrd="0" presId="urn:microsoft.com/office/officeart/2011/layout/TabList"/>
    <dgm:cxn modelId="{4927F5C1-C210-4BE6-A9A5-F1D49100E562}" srcId="{0C78341E-759D-49FE-A468-24ED0DD4BB39}" destId="{BF8779A3-EFA5-485B-B7D2-BD048792EF5E}" srcOrd="0" destOrd="0" parTransId="{29C75388-66EB-43F0-9F66-F7FD9ACED632}" sibTransId="{2D3C61BE-8B7B-4201-8A42-6CA638488D7F}"/>
    <dgm:cxn modelId="{9C7D66C6-39B0-4656-A685-2CDE39A7E8F9}" type="presOf" srcId="{57E1EE4F-C77B-4EB9-8184-D6EAF878B828}" destId="{3968B64B-4822-47DF-A282-627BE788FAEB}" srcOrd="0" destOrd="0" presId="urn:microsoft.com/office/officeart/2011/layout/TabList"/>
    <dgm:cxn modelId="{7A9FE1EE-9DA7-4E2B-A01E-9C87384C1134}" type="presOf" srcId="{0C78341E-759D-49FE-A468-24ED0DD4BB39}" destId="{24DA7730-927D-42CB-8ED5-8FD998B69726}" srcOrd="0" destOrd="0" presId="urn:microsoft.com/office/officeart/2011/layout/TabList"/>
    <dgm:cxn modelId="{428C9260-AB31-4775-8D00-871164396907}" type="presParOf" srcId="{EB59EAD4-055A-4EB3-9268-17165F7D229E}" destId="{E7BBA875-670C-4157-A7A8-10B546BD42E9}" srcOrd="0" destOrd="0" presId="urn:microsoft.com/office/officeart/2011/layout/TabList"/>
    <dgm:cxn modelId="{5201BABF-9409-4B00-A8D7-C68C32721EC6}" type="presParOf" srcId="{E7BBA875-670C-4157-A7A8-10B546BD42E9}" destId="{561D90EE-E6F0-4760-9832-22E5AAE5E477}" srcOrd="0" destOrd="0" presId="urn:microsoft.com/office/officeart/2011/layout/TabList"/>
    <dgm:cxn modelId="{D8711552-A45F-42F2-9D00-17BF28C5E3A4}" type="presParOf" srcId="{E7BBA875-670C-4157-A7A8-10B546BD42E9}" destId="{24DA7730-927D-42CB-8ED5-8FD998B69726}" srcOrd="1" destOrd="0" presId="urn:microsoft.com/office/officeart/2011/layout/TabList"/>
    <dgm:cxn modelId="{F0A0CA22-53A3-4B7C-A60C-9647F1783CAC}" type="presParOf" srcId="{E7BBA875-670C-4157-A7A8-10B546BD42E9}" destId="{7755493C-1CBE-40D0-B6A0-0237B08AE5EF}" srcOrd="2" destOrd="0" presId="urn:microsoft.com/office/officeart/2011/layout/TabList"/>
    <dgm:cxn modelId="{46AB5FAF-6EF7-4688-954F-FC2FD620651E}" type="presParOf" srcId="{EB59EAD4-055A-4EB3-9268-17165F7D229E}" destId="{3968B64B-4822-47DF-A282-627BE788FAEB}" srcOrd="1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4B4D71-6311-4D7A-B58E-3CF36A6098D0}" type="doc">
      <dgm:prSet loTypeId="urn:microsoft.com/office/officeart/2011/layout/TabList" loCatId="officeonline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de-DE"/>
        </a:p>
      </dgm:t>
    </dgm:pt>
    <dgm:pt modelId="{B59BD016-15FF-4C61-B226-128328B57FE5}">
      <dgm:prSet phldrT="[Text]" phldr="0" custT="1"/>
      <dgm:spPr/>
      <dgm:t>
        <a:bodyPr/>
        <a:lstStyle/>
        <a:p>
          <a:r>
            <a:rPr lang="de-DE" sz="1600" dirty="0">
              <a:solidFill>
                <a:schemeClr val="tx1"/>
              </a:solidFill>
              <a:latin typeface="Raleway" pitchFamily="2" charset="0"/>
            </a:rPr>
            <a:t>Qwen2.5VL</a:t>
          </a:r>
        </a:p>
      </dgm:t>
    </dgm:pt>
    <dgm:pt modelId="{3075F9FD-771C-4FEF-A373-C4DE9B81205E}" type="parTrans" cxnId="{AE62B86A-DA62-48A2-A597-D9DEF1C70519}">
      <dgm:prSet/>
      <dgm:spPr/>
      <dgm:t>
        <a:bodyPr/>
        <a:lstStyle/>
        <a:p>
          <a:endParaRPr lang="de-DE"/>
        </a:p>
      </dgm:t>
    </dgm:pt>
    <dgm:pt modelId="{B4D0D781-60FE-4916-AB2C-A0F0CA498DC4}" type="sibTrans" cxnId="{AE62B86A-DA62-48A2-A597-D9DEF1C70519}">
      <dgm:prSet/>
      <dgm:spPr/>
      <dgm:t>
        <a:bodyPr/>
        <a:lstStyle/>
        <a:p>
          <a:endParaRPr lang="de-DE"/>
        </a:p>
      </dgm:t>
    </dgm:pt>
    <dgm:pt modelId="{0AC1CAE2-8F76-448B-921E-EE9F1EA5E1E6}">
      <dgm:prSet phldrT="[Text]" phldr="0" custT="1"/>
      <dgm:spPr/>
      <dgm:t>
        <a:bodyPr/>
        <a:lstStyle/>
        <a:p>
          <a:r>
            <a:rPr lang="de-DE" sz="1600" dirty="0">
              <a:latin typeface="Raleway" pitchFamily="2" charset="0"/>
            </a:rPr>
            <a:t>3b</a:t>
          </a:r>
        </a:p>
      </dgm:t>
    </dgm:pt>
    <dgm:pt modelId="{26D6E46C-EA37-422C-9B3B-8D3ECCF17A68}" type="parTrans" cxnId="{31577F6D-7EBE-446B-9079-586A10782A52}">
      <dgm:prSet/>
      <dgm:spPr/>
      <dgm:t>
        <a:bodyPr/>
        <a:lstStyle/>
        <a:p>
          <a:endParaRPr lang="de-DE"/>
        </a:p>
      </dgm:t>
    </dgm:pt>
    <dgm:pt modelId="{DD1799CE-5046-43B5-9710-BE6EC071B265}" type="sibTrans" cxnId="{31577F6D-7EBE-446B-9079-586A10782A52}">
      <dgm:prSet/>
      <dgm:spPr/>
      <dgm:t>
        <a:bodyPr/>
        <a:lstStyle/>
        <a:p>
          <a:endParaRPr lang="de-DE"/>
        </a:p>
      </dgm:t>
    </dgm:pt>
    <dgm:pt modelId="{FBE1C583-9745-413C-8AAF-70300411E8AA}">
      <dgm:prSet phldrT="[Text]" phldr="0" custT="1"/>
      <dgm:spPr/>
      <dgm:t>
        <a:bodyPr/>
        <a:lstStyle/>
        <a:p>
          <a:r>
            <a:rPr lang="de-DE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Ground Truth: </a:t>
          </a:r>
          <a:r>
            <a: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Two wooden crates stacked on top of each other , each labeled with a number</a:t>
          </a:r>
          <a:endParaRPr lang="de-DE" sz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0DFBC25C-56B2-4BFD-9A01-5564138E4145}" type="parTrans" cxnId="{DFB37968-41D3-4CFD-809F-56F9A5466C7A}">
      <dgm:prSet/>
      <dgm:spPr/>
      <dgm:t>
        <a:bodyPr/>
        <a:lstStyle/>
        <a:p>
          <a:endParaRPr lang="de-DE"/>
        </a:p>
      </dgm:t>
    </dgm:pt>
    <dgm:pt modelId="{80E1B8A7-C88B-4AC5-949B-8B9C5B14F4A9}" type="sibTrans" cxnId="{DFB37968-41D3-4CFD-809F-56F9A5466C7A}">
      <dgm:prSet/>
      <dgm:spPr/>
      <dgm:t>
        <a:bodyPr/>
        <a:lstStyle/>
        <a:p>
          <a:endParaRPr lang="de-DE"/>
        </a:p>
      </dgm:t>
    </dgm:pt>
    <dgm:pt modelId="{2C82D0D1-B90E-400C-A32A-5CC8EDAE6812}">
      <dgm:prSet phldrT="[Text]" phldr="0" custT="1"/>
      <dgm:spPr/>
      <dgm:t>
        <a:bodyPr/>
        <a:lstStyle/>
        <a:p>
          <a:r>
            <a:rPr lang="de-DE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AI Captions: </a:t>
          </a:r>
          <a:r>
            <a: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 stack of wooden crates, each labeled with '190401' and '2X', secured with metal brackets.</a:t>
          </a:r>
          <a:endParaRPr lang="de-DE" sz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FA2B36CB-03BB-435E-A179-35BA632C25F7}" type="parTrans" cxnId="{B2C4098E-16E9-4047-99D7-331FF93CEE00}">
      <dgm:prSet/>
      <dgm:spPr/>
      <dgm:t>
        <a:bodyPr/>
        <a:lstStyle/>
        <a:p>
          <a:endParaRPr lang="de-DE"/>
        </a:p>
      </dgm:t>
    </dgm:pt>
    <dgm:pt modelId="{E57851A9-E0CD-4B15-B41F-CC3EF368C6D5}" type="sibTrans" cxnId="{B2C4098E-16E9-4047-99D7-331FF93CEE00}">
      <dgm:prSet/>
      <dgm:spPr/>
      <dgm:t>
        <a:bodyPr/>
        <a:lstStyle/>
        <a:p>
          <a:endParaRPr lang="de-DE"/>
        </a:p>
      </dgm:t>
    </dgm:pt>
    <dgm:pt modelId="{EB59EAD4-055A-4EB3-9268-17165F7D229E}" type="pres">
      <dgm:prSet presAssocID="{8D4B4D71-6311-4D7A-B58E-3CF36A6098D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C16A69B5-D97C-457E-BD51-1353DFE67AE7}" type="pres">
      <dgm:prSet presAssocID="{B59BD016-15FF-4C61-B226-128328B57FE5}" presName="composite" presStyleCnt="0"/>
      <dgm:spPr/>
    </dgm:pt>
    <dgm:pt modelId="{E3CF0F59-07F0-4FC7-B365-40F2F66C1BB0}" type="pres">
      <dgm:prSet presAssocID="{B59BD016-15FF-4C61-B226-128328B57FE5}" presName="FirstChild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05D3F53E-33DC-401D-86B4-5FE8C81A6FEF}" type="pres">
      <dgm:prSet presAssocID="{B59BD016-15FF-4C61-B226-128328B57FE5}" presName="Parent" presStyleLbl="alignNode1" presStyleIdx="0" presStyleCnt="1">
        <dgm:presLayoutVars>
          <dgm:chMax val="3"/>
          <dgm:chPref val="3"/>
          <dgm:bulletEnabled val="1"/>
        </dgm:presLayoutVars>
      </dgm:prSet>
      <dgm:spPr/>
    </dgm:pt>
    <dgm:pt modelId="{B53B6C99-E7DC-40EE-A443-E982DAF1C728}" type="pres">
      <dgm:prSet presAssocID="{B59BD016-15FF-4C61-B226-128328B57FE5}" presName="Accent" presStyleLbl="parChTrans1D1" presStyleIdx="0" presStyleCnt="1"/>
      <dgm:spPr/>
    </dgm:pt>
    <dgm:pt modelId="{23F77289-44EC-438C-9C6D-1D052851246C}" type="pres">
      <dgm:prSet presAssocID="{B59BD016-15FF-4C61-B226-128328B57FE5}" presName="Child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C8030335-91CB-427D-B0EE-90AD2216DA29}" type="presOf" srcId="{0AC1CAE2-8F76-448B-921E-EE9F1EA5E1E6}" destId="{E3CF0F59-07F0-4FC7-B365-40F2F66C1BB0}" srcOrd="0" destOrd="0" presId="urn:microsoft.com/office/officeart/2011/layout/TabList"/>
    <dgm:cxn modelId="{DFB37968-41D3-4CFD-809F-56F9A5466C7A}" srcId="{B59BD016-15FF-4C61-B226-128328B57FE5}" destId="{FBE1C583-9745-413C-8AAF-70300411E8AA}" srcOrd="1" destOrd="0" parTransId="{0DFBC25C-56B2-4BFD-9A01-5564138E4145}" sibTransId="{80E1B8A7-C88B-4AC5-949B-8B9C5B14F4A9}"/>
    <dgm:cxn modelId="{AE62B86A-DA62-48A2-A597-D9DEF1C70519}" srcId="{8D4B4D71-6311-4D7A-B58E-3CF36A6098D0}" destId="{B59BD016-15FF-4C61-B226-128328B57FE5}" srcOrd="0" destOrd="0" parTransId="{3075F9FD-771C-4FEF-A373-C4DE9B81205E}" sibTransId="{B4D0D781-60FE-4916-AB2C-A0F0CA498DC4}"/>
    <dgm:cxn modelId="{31577F6D-7EBE-446B-9079-586A10782A52}" srcId="{B59BD016-15FF-4C61-B226-128328B57FE5}" destId="{0AC1CAE2-8F76-448B-921E-EE9F1EA5E1E6}" srcOrd="0" destOrd="0" parTransId="{26D6E46C-EA37-422C-9B3B-8D3ECCF17A68}" sibTransId="{DD1799CE-5046-43B5-9710-BE6EC071B265}"/>
    <dgm:cxn modelId="{B2C4098E-16E9-4047-99D7-331FF93CEE00}" srcId="{B59BD016-15FF-4C61-B226-128328B57FE5}" destId="{2C82D0D1-B90E-400C-A32A-5CC8EDAE6812}" srcOrd="2" destOrd="0" parTransId="{FA2B36CB-03BB-435E-A179-35BA632C25F7}" sibTransId="{E57851A9-E0CD-4B15-B41F-CC3EF368C6D5}"/>
    <dgm:cxn modelId="{D667139C-35AF-40F6-ABBB-18EEB743AD75}" type="presOf" srcId="{2C82D0D1-B90E-400C-A32A-5CC8EDAE6812}" destId="{23F77289-44EC-438C-9C6D-1D052851246C}" srcOrd="0" destOrd="1" presId="urn:microsoft.com/office/officeart/2011/layout/TabList"/>
    <dgm:cxn modelId="{25FD4D9C-7EAC-4A10-B3C0-DA52C746D3ED}" type="presOf" srcId="{8D4B4D71-6311-4D7A-B58E-3CF36A6098D0}" destId="{EB59EAD4-055A-4EB3-9268-17165F7D229E}" srcOrd="0" destOrd="0" presId="urn:microsoft.com/office/officeart/2011/layout/TabList"/>
    <dgm:cxn modelId="{FF6D23ED-D644-4F71-A567-EAC8C103FC84}" type="presOf" srcId="{FBE1C583-9745-413C-8AAF-70300411E8AA}" destId="{23F77289-44EC-438C-9C6D-1D052851246C}" srcOrd="0" destOrd="0" presId="urn:microsoft.com/office/officeart/2011/layout/TabList"/>
    <dgm:cxn modelId="{ECC4CEED-61F6-4476-8E9B-6DCAE5117EB6}" type="presOf" srcId="{B59BD016-15FF-4C61-B226-128328B57FE5}" destId="{05D3F53E-33DC-401D-86B4-5FE8C81A6FEF}" srcOrd="0" destOrd="0" presId="urn:microsoft.com/office/officeart/2011/layout/TabList"/>
    <dgm:cxn modelId="{4906C9BF-8C5A-4D6E-90F5-DC9F3C2C083D}" type="presParOf" srcId="{EB59EAD4-055A-4EB3-9268-17165F7D229E}" destId="{C16A69B5-D97C-457E-BD51-1353DFE67AE7}" srcOrd="0" destOrd="0" presId="urn:microsoft.com/office/officeart/2011/layout/TabList"/>
    <dgm:cxn modelId="{EE0C4C87-12B9-4672-AD72-B6724E66583B}" type="presParOf" srcId="{C16A69B5-D97C-457E-BD51-1353DFE67AE7}" destId="{E3CF0F59-07F0-4FC7-B365-40F2F66C1BB0}" srcOrd="0" destOrd="0" presId="urn:microsoft.com/office/officeart/2011/layout/TabList"/>
    <dgm:cxn modelId="{1A3BB3A0-8311-4A79-86D9-E732223A447E}" type="presParOf" srcId="{C16A69B5-D97C-457E-BD51-1353DFE67AE7}" destId="{05D3F53E-33DC-401D-86B4-5FE8C81A6FEF}" srcOrd="1" destOrd="0" presId="urn:microsoft.com/office/officeart/2011/layout/TabList"/>
    <dgm:cxn modelId="{8C9866EC-0E16-4F32-94C9-CC6866D80501}" type="presParOf" srcId="{C16A69B5-D97C-457E-BD51-1353DFE67AE7}" destId="{B53B6C99-E7DC-40EE-A443-E982DAF1C728}" srcOrd="2" destOrd="0" presId="urn:microsoft.com/office/officeart/2011/layout/TabList"/>
    <dgm:cxn modelId="{25B89FED-4F86-4591-8995-914E62366854}" type="presParOf" srcId="{EB59EAD4-055A-4EB3-9268-17165F7D229E}" destId="{23F77289-44EC-438C-9C6D-1D052851246C}" srcOrd="1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5493C-1CBE-40D0-B6A0-0237B08AE5EF}">
      <dsp:nvSpPr>
        <dsp:cNvPr id="0" name=""/>
        <dsp:cNvSpPr/>
      </dsp:nvSpPr>
      <dsp:spPr>
        <a:xfrm>
          <a:off x="0" y="475440"/>
          <a:ext cx="5041392" cy="0"/>
        </a:xfrm>
        <a:prstGeom prst="line">
          <a:avLst/>
        </a:pr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1D90EE-E6F0-4760-9832-22E5AAE5E477}">
      <dsp:nvSpPr>
        <dsp:cNvPr id="0" name=""/>
        <dsp:cNvSpPr/>
      </dsp:nvSpPr>
      <dsp:spPr>
        <a:xfrm>
          <a:off x="1310761" y="0"/>
          <a:ext cx="3730630" cy="475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Raleway" pitchFamily="2" charset="0"/>
              <a:ea typeface="Roboto" panose="02000000000000000000" pitchFamily="2" charset="0"/>
              <a:cs typeface="Roboto" panose="02000000000000000000" pitchFamily="2" charset="0"/>
            </a:rPr>
            <a:t>1.8b</a:t>
          </a:r>
        </a:p>
      </dsp:txBody>
      <dsp:txXfrm>
        <a:off x="1310761" y="0"/>
        <a:ext cx="3730630" cy="475440"/>
      </dsp:txXfrm>
    </dsp:sp>
    <dsp:sp modelId="{24DA7730-927D-42CB-8ED5-8FD998B69726}">
      <dsp:nvSpPr>
        <dsp:cNvPr id="0" name=""/>
        <dsp:cNvSpPr/>
      </dsp:nvSpPr>
      <dsp:spPr>
        <a:xfrm>
          <a:off x="0" y="0"/>
          <a:ext cx="1310761" cy="475440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solidFill>
                <a:schemeClr val="tx1"/>
              </a:solidFill>
              <a:latin typeface="Raleway" pitchFamily="2" charset="0"/>
            </a:rPr>
            <a:t>Moondream</a:t>
          </a:r>
        </a:p>
      </dsp:txBody>
      <dsp:txXfrm>
        <a:off x="23213" y="23213"/>
        <a:ext cx="1264335" cy="452227"/>
      </dsp:txXfrm>
    </dsp:sp>
    <dsp:sp modelId="{3968B64B-4822-47DF-A282-627BE788FAEB}">
      <dsp:nvSpPr>
        <dsp:cNvPr id="0" name=""/>
        <dsp:cNvSpPr/>
      </dsp:nvSpPr>
      <dsp:spPr>
        <a:xfrm>
          <a:off x="0" y="475440"/>
          <a:ext cx="5041392" cy="9510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Ground Truth: Two wooden crates stacked on top of each other, each labeled with a number.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AI Captions: Containers on top of each other in a warehouse.</a:t>
          </a:r>
        </a:p>
      </dsp:txBody>
      <dsp:txXfrm>
        <a:off x="0" y="475440"/>
        <a:ext cx="5041392" cy="9510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3B6C99-E7DC-40EE-A443-E982DAF1C728}">
      <dsp:nvSpPr>
        <dsp:cNvPr id="0" name=""/>
        <dsp:cNvSpPr/>
      </dsp:nvSpPr>
      <dsp:spPr>
        <a:xfrm>
          <a:off x="0" y="477472"/>
          <a:ext cx="5041392" cy="0"/>
        </a:xfrm>
        <a:prstGeom prst="line">
          <a:avLst/>
        </a:pr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CF0F59-07F0-4FC7-B365-40F2F66C1BB0}">
      <dsp:nvSpPr>
        <dsp:cNvPr id="0" name=""/>
        <dsp:cNvSpPr/>
      </dsp:nvSpPr>
      <dsp:spPr>
        <a:xfrm>
          <a:off x="1310761" y="0"/>
          <a:ext cx="3730630" cy="477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Raleway" pitchFamily="2" charset="0"/>
            </a:rPr>
            <a:t>3b</a:t>
          </a:r>
        </a:p>
      </dsp:txBody>
      <dsp:txXfrm>
        <a:off x="1310761" y="0"/>
        <a:ext cx="3730630" cy="477472"/>
      </dsp:txXfrm>
    </dsp:sp>
    <dsp:sp modelId="{05D3F53E-33DC-401D-86B4-5FE8C81A6FEF}">
      <dsp:nvSpPr>
        <dsp:cNvPr id="0" name=""/>
        <dsp:cNvSpPr/>
      </dsp:nvSpPr>
      <dsp:spPr>
        <a:xfrm>
          <a:off x="0" y="0"/>
          <a:ext cx="1310761" cy="477472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solidFill>
                <a:schemeClr val="tx1"/>
              </a:solidFill>
              <a:latin typeface="Raleway" pitchFamily="2" charset="0"/>
            </a:rPr>
            <a:t>Qwen2.5VL</a:t>
          </a:r>
        </a:p>
      </dsp:txBody>
      <dsp:txXfrm>
        <a:off x="23312" y="23312"/>
        <a:ext cx="1264137" cy="454160"/>
      </dsp:txXfrm>
    </dsp:sp>
    <dsp:sp modelId="{23F77289-44EC-438C-9C6D-1D052851246C}">
      <dsp:nvSpPr>
        <dsp:cNvPr id="0" name=""/>
        <dsp:cNvSpPr/>
      </dsp:nvSpPr>
      <dsp:spPr>
        <a:xfrm>
          <a:off x="0" y="477472"/>
          <a:ext cx="5041392" cy="955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Ground Truth: </a:t>
          </a:r>
          <a:r>
            <a:rPr lang="en-US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Two wooden crates stacked on top of each other , each labeled with a number</a:t>
          </a:r>
          <a:endParaRPr lang="de-DE" sz="12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AI Captions: </a:t>
          </a:r>
          <a:r>
            <a:rPr lang="en-US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 stack of wooden crates, each labeled with '190401' and '2X', secured with metal brackets.</a:t>
          </a:r>
          <a:endParaRPr lang="de-DE" sz="12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477472"/>
        <a:ext cx="5041392" cy="955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4662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202CA-9BD5-7C86-9805-00D265880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63882-8BC0-148E-5D71-6E77B2D73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ADCA8-C012-CBE3-E524-9BD5E16CB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D1F30-B7EA-FE65-C717-25EF2B54B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01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CB0E-0505-C7FF-830B-15A0A360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52D63-2259-5D9F-E885-68D2994A3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3B5A8-7B85-21A0-6A81-90159AAE6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6934E-3DDE-81F4-588B-E37462904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8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9578-0044-256A-796B-7A250691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34248-0C3A-0099-57F1-CC062E90E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5EBC7-EC20-0E39-EFF4-76D636067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F25FD-679B-B5D2-ECD7-11F47EC9B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35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9.emf"/><Relationship Id="rId4" Type="http://schemas.openxmlformats.org/officeDocument/2006/relationships/diagramLayout" Target="../diagrams/layout1.xml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14078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Automatic Image Captioning for Project Documentation at the ITE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8" y="2654916"/>
            <a:ext cx="4722763" cy="97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33000"/>
              </a:lnSpc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Osama Hamed</a:t>
            </a:r>
          </a:p>
          <a:p>
            <a:pPr algn="ctr">
              <a:lnSpc>
                <a:spcPct val="133000"/>
              </a:lnSpc>
            </a:pPr>
            <a:endParaRPr lang="en-US" sz="9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Institute of Technology &amp; Engineering (ITE) 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950" i="1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Forschungszentrum</a:t>
            </a: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Jülich</a:t>
            </a:r>
          </a:p>
          <a:p>
            <a:pPr algn="ctr">
              <a:lnSpc>
                <a:spcPct val="133000"/>
              </a:lnSpc>
            </a:pPr>
            <a:r>
              <a:rPr lang="en-US" sz="950" dirty="0"/>
              <a:t>Germany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2696"/>
            <a:ext cx="82322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Problem: Thousands of Unlabeled Archive Images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666280"/>
            <a:ext cx="4103191" cy="2384450"/>
          </a:xfrm>
          <a:prstGeom prst="roundRect">
            <a:avLst>
              <a:gd name="adj" fmla="val 3746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796" y="179025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108076"/>
            <a:ext cx="3855244" cy="1235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the ITE, Forschungszentrum Jülich, years of engagement in research projects. This have produced </a:t>
            </a: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thousands of unlabeled images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950" dirty="0">
              <a:solidFill>
                <a:srgbClr val="FFFFF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Manually captioning them is time-consuming and resource-intensive for humans — but not for AI.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790254"/>
            <a:ext cx="216597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Image Captioning?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108076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captioning (IC) automatically generates natural language descriptions for images. It combines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Vision (CV)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Processing (NLP)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with applications in accessibility, image search, and institutional documentation workflows.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302589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3343721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leverage small,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locally deployed Vision-Language Models (VLMs)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requiring no API key — to automate captioning for historical project images in a secure, cost-aware setting.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4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349" y="314474"/>
            <a:ext cx="4800302" cy="714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Background: From Deep Learning to Vision-Language Models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457349" y="1187276"/>
            <a:ext cx="4800302" cy="831726"/>
          </a:xfrm>
          <a:prstGeom prst="roundRect">
            <a:avLst>
              <a:gd name="adj" fmla="val 57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6411" y="1306339"/>
            <a:ext cx="18866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Classical IC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6411" y="1548259"/>
            <a:ext cx="4562177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Template- and retrieval-based approaches, later replaced by CNN + RNN encoder-decoder architectures with attention mechanisms.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349" y="2124373"/>
            <a:ext cx="4800302" cy="831726"/>
          </a:xfrm>
          <a:prstGeom prst="roundRect">
            <a:avLst>
              <a:gd name="adj" fmla="val 57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411" y="2243435"/>
            <a:ext cx="18866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Transformer Era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411" y="2485355"/>
            <a:ext cx="4562177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CLIP, BLIP-2, and </a:t>
            </a:r>
            <a:r>
              <a:rPr lang="en-US" sz="900" dirty="0">
                <a:solidFill>
                  <a:srgbClr val="3C3939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Flamingo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introduced large-scale vision-language pretraining, enabling strong cross-modal alignment and few-shot captioning.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349" y="3061469"/>
            <a:ext cx="4800302" cy="831726"/>
          </a:xfrm>
          <a:prstGeom prst="roundRect">
            <a:avLst>
              <a:gd name="adj" fmla="val 57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6411" y="3180531"/>
            <a:ext cx="18866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Modern MLLMs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6411" y="3422452"/>
            <a:ext cx="4562177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Instruction-tuned models like LLaVA achieve context-aware caption generation, but most remain computationally intensive and cloud-scale.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349" y="3998565"/>
            <a:ext cx="4800302" cy="831726"/>
          </a:xfrm>
          <a:prstGeom prst="roundRect">
            <a:avLst>
              <a:gd name="adj" fmla="val 57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6411" y="4117628"/>
            <a:ext cx="1974428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Deployment Gap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411" y="4359548"/>
            <a:ext cx="4562177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Compact models raise concerns about robustness on domain-specific imagery. Systematic benchmarking of lightweight VLMs is needed.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7877"/>
            <a:ext cx="593392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Experimental Setup: Dataset &amp; Models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3543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653255"/>
            <a:ext cx="3924598" cy="146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171450" indent="-1714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manually annotated set of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120 images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the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Cryogenic Moderator System (CMS)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project archive (2017–2020), organized into four categories: </a:t>
            </a:r>
          </a:p>
          <a:p>
            <a:pPr marL="628650" lvl="1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Reflector, </a:t>
            </a:r>
          </a:p>
          <a:p>
            <a:pPr marL="628650" lvl="1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Rotation Unit, </a:t>
            </a:r>
          </a:p>
          <a:p>
            <a:pPr marL="628650" lvl="1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 Montage, </a:t>
            </a:r>
          </a:p>
          <a:p>
            <a:pPr marL="628650" lvl="1" indent="-171450">
              <a:lnSpc>
                <a:spcPct val="133000"/>
              </a:lnSpc>
              <a:buFont typeface="Wingdings" panose="05000000000000000000" pitchFamily="2" charset="2"/>
              <a:buChar char="ü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Visits.</a:t>
            </a:r>
          </a:p>
          <a:p>
            <a:pPr marL="171450" indent="-171450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annotators wrote 1–2 sentence captions averaging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15.6 words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dataset was split 67% training / 33% test for BLIP fine-tuning.</a:t>
            </a:r>
            <a:endParaRPr lang="en-US" sz="950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ADCBDA9-658A-93C3-8855-3629B8514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224117"/>
            <a:ext cx="4313903" cy="3134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0BCB4-E637-5B2D-969B-A89E9BDA9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638D9C-6245-0580-67C2-12515378F43F}"/>
              </a:ext>
            </a:extLst>
          </p:cNvPr>
          <p:cNvSpPr/>
          <p:nvPr/>
        </p:nvSpPr>
        <p:spPr>
          <a:xfrm>
            <a:off x="496119" y="637877"/>
            <a:ext cx="593392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Experimental Setup: Dataset &amp; Models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7FED17-26E7-BD29-B49D-2567E189009C}"/>
              </a:ext>
            </a:extLst>
          </p:cNvPr>
          <p:cNvSpPr/>
          <p:nvPr/>
        </p:nvSpPr>
        <p:spPr>
          <a:xfrm>
            <a:off x="753360" y="133543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Tested Models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68FFCB2-4B03-9708-D97A-8F1986CA0F55}"/>
              </a:ext>
            </a:extLst>
          </p:cNvPr>
          <p:cNvSpPr/>
          <p:nvPr/>
        </p:nvSpPr>
        <p:spPr>
          <a:xfrm>
            <a:off x="731231" y="1668810"/>
            <a:ext cx="1900312" cy="1189732"/>
          </a:xfrm>
          <a:prstGeom prst="roundRect">
            <a:avLst>
              <a:gd name="adj" fmla="val 57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399503-C8A3-E928-D818-AA1F7A3820EB}"/>
              </a:ext>
            </a:extLst>
          </p:cNvPr>
          <p:cNvSpPr/>
          <p:nvPr/>
        </p:nvSpPr>
        <p:spPr>
          <a:xfrm>
            <a:off x="716944" y="1668810"/>
            <a:ext cx="57150" cy="11897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AEC347-20D1-4422-B317-02631A983B37}"/>
              </a:ext>
            </a:extLst>
          </p:cNvPr>
          <p:cNvSpPr/>
          <p:nvPr/>
        </p:nvSpPr>
        <p:spPr>
          <a:xfrm>
            <a:off x="912355" y="180707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Moondream2 (1.8B)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605799-61EA-2FCC-2D97-7126A57D6F28}"/>
              </a:ext>
            </a:extLst>
          </p:cNvPr>
          <p:cNvSpPr/>
          <p:nvPr/>
        </p:nvSpPr>
        <p:spPr>
          <a:xfrm>
            <a:off x="912355" y="2124894"/>
            <a:ext cx="158092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edge-optimized VLM via Ollama. Tested with short and long prompts.</a:t>
            </a:r>
            <a:endParaRPr lang="en-US" sz="9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280A122-D4CF-40D1-9095-81BEEA2DB34F}"/>
              </a:ext>
            </a:extLst>
          </p:cNvPr>
          <p:cNvSpPr/>
          <p:nvPr/>
        </p:nvSpPr>
        <p:spPr>
          <a:xfrm>
            <a:off x="2755517" y="1668810"/>
            <a:ext cx="1900312" cy="1189732"/>
          </a:xfrm>
          <a:prstGeom prst="roundRect">
            <a:avLst>
              <a:gd name="adj" fmla="val 57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9ADEC67-215B-A8D2-97A3-207AE9B41691}"/>
              </a:ext>
            </a:extLst>
          </p:cNvPr>
          <p:cNvSpPr/>
          <p:nvPr/>
        </p:nvSpPr>
        <p:spPr>
          <a:xfrm>
            <a:off x="2741230" y="1668810"/>
            <a:ext cx="57150" cy="1189732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C32136-9642-BD90-043B-7FFA17A502CF}"/>
              </a:ext>
            </a:extLst>
          </p:cNvPr>
          <p:cNvSpPr/>
          <p:nvPr/>
        </p:nvSpPr>
        <p:spPr>
          <a:xfrm>
            <a:off x="2936641" y="180707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Qwen2.5VL:3b (3B)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1B51666-AE5F-21C3-3136-B539DE1506FA}"/>
              </a:ext>
            </a:extLst>
          </p:cNvPr>
          <p:cNvSpPr/>
          <p:nvPr/>
        </p:nvSpPr>
        <p:spPr>
          <a:xfrm>
            <a:off x="2936641" y="2124894"/>
            <a:ext cx="158092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Mid-size VLM from Alibaba's Qwen family via Ollama. Primary ablation target.</a:t>
            </a:r>
            <a:endParaRPr lang="en-US" sz="9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F2E04C-BE12-8843-6E0A-0CB8A1530EE7}"/>
              </a:ext>
            </a:extLst>
          </p:cNvPr>
          <p:cNvSpPr/>
          <p:nvPr/>
        </p:nvSpPr>
        <p:spPr>
          <a:xfrm>
            <a:off x="731231" y="2982516"/>
            <a:ext cx="1900312" cy="1383581"/>
          </a:xfrm>
          <a:prstGeom prst="roundRect">
            <a:avLst>
              <a:gd name="adj" fmla="val 495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1D4EDC8-6ACC-B67F-45A3-35A76D0E4D99}"/>
              </a:ext>
            </a:extLst>
          </p:cNvPr>
          <p:cNvSpPr/>
          <p:nvPr/>
        </p:nvSpPr>
        <p:spPr>
          <a:xfrm>
            <a:off x="716944" y="2982516"/>
            <a:ext cx="57150" cy="1383581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55BAB9-557A-364F-53E5-D7ED401AD8AF}"/>
              </a:ext>
            </a:extLst>
          </p:cNvPr>
          <p:cNvSpPr/>
          <p:nvPr/>
        </p:nvSpPr>
        <p:spPr>
          <a:xfrm>
            <a:off x="912355" y="312077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LLaVA:7b (7B)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2D75393-0823-CCF4-23C7-0A210F9CCBAC}"/>
              </a:ext>
            </a:extLst>
          </p:cNvPr>
          <p:cNvSpPr/>
          <p:nvPr/>
        </p:nvSpPr>
        <p:spPr>
          <a:xfrm>
            <a:off x="912355" y="3438599"/>
            <a:ext cx="158092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 model combining vision encoder + </a:t>
            </a:r>
            <a:r>
              <a:rPr lang="en-US" sz="950" dirty="0">
                <a:solidFill>
                  <a:srgbClr val="3C3939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Vicuna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Ollama.</a:t>
            </a:r>
            <a:endParaRPr lang="en-US" sz="9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BE6F8B5-F8AD-30CE-BEA1-980F82155C1E}"/>
              </a:ext>
            </a:extLst>
          </p:cNvPr>
          <p:cNvSpPr/>
          <p:nvPr/>
        </p:nvSpPr>
        <p:spPr>
          <a:xfrm>
            <a:off x="2755517" y="2982516"/>
            <a:ext cx="1900312" cy="1383581"/>
          </a:xfrm>
          <a:prstGeom prst="roundRect">
            <a:avLst>
              <a:gd name="adj" fmla="val 495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86C2127-1BA6-FC2F-3F84-B917372927A0}"/>
              </a:ext>
            </a:extLst>
          </p:cNvPr>
          <p:cNvSpPr/>
          <p:nvPr/>
        </p:nvSpPr>
        <p:spPr>
          <a:xfrm>
            <a:off x="2741230" y="2982516"/>
            <a:ext cx="57150" cy="1383581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0C0460E-9353-DE16-D90F-6A4077B91EC4}"/>
              </a:ext>
            </a:extLst>
          </p:cNvPr>
          <p:cNvSpPr/>
          <p:nvPr/>
        </p:nvSpPr>
        <p:spPr>
          <a:xfrm>
            <a:off x="2936641" y="3120777"/>
            <a:ext cx="158092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BLIP-base (Fine-tuned)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CDCAC61-B667-544E-405D-8B6E7FC49D52}"/>
              </a:ext>
            </a:extLst>
          </p:cNvPr>
          <p:cNvSpPr/>
          <p:nvPr/>
        </p:nvSpPr>
        <p:spPr>
          <a:xfrm>
            <a:off x="2936641" y="3632448"/>
            <a:ext cx="158092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Salesforce BLIP-base fine-tuned for 10 epochs via Hugging Face.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85558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56592"/>
            <a:ext cx="5626671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Image Caption Generation Pipeline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924744"/>
            <a:ext cx="3751362" cy="3391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49" y="4435227"/>
            <a:ext cx="8229302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flows from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Annotation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Splitting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Augmentation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(random crops, flips, color jitter, rotations) →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Training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(BLIP fine-tuned with AdamW, 10 epochs on NVIDIA RTX PRO 3000 Blackwell GPU) →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BLEU and ROUGE metrics.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5609"/>
            <a:ext cx="546541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Metrics: BLEU &amp; ROUGE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639193"/>
            <a:ext cx="4103191" cy="2438623"/>
          </a:xfrm>
          <a:prstGeom prst="roundRect">
            <a:avLst>
              <a:gd name="adj" fmla="val 3662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796" y="176316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BLEU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2080989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Bilingual Evaluation Understudy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originally for machine translation. Compares n-gram overlap between generated and reference captions. </a:t>
            </a: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Precision-oriented.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May underestimate performance when domain-specific terminology varies despite correct semantics.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76316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28046" y="2080989"/>
            <a:ext cx="392459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Recall-Oriented Understudy for Gisting Evaluation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designed for summarization evaluation. Measures n-gram overlap between generated and reference text.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Recall-oriented.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Higher scores indicate greater structural and content overlap with human references.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28046" y="3014365"/>
            <a:ext cx="3924598" cy="923925"/>
          </a:xfrm>
          <a:prstGeom prst="roundRect">
            <a:avLst>
              <a:gd name="adj" fmla="val 5639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020" y="3198912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30998" y="3169295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metrics are used together to provide a more complete picture of caption quality across precision and recall dimensions.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778"/>
            <a:ext cx="849213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Model Comparison Across Prompting Strategies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073348"/>
            <a:ext cx="8151763" cy="3095848"/>
          </a:xfrm>
          <a:prstGeom prst="roundRect">
            <a:avLst>
              <a:gd name="adj" fmla="val 168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5227" y="1157288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984846" y="1157288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42084" y="1157288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Avg. W. Length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99322" y="1157288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BLEU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56561" y="1157288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ROUGE-1-F1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13799" y="1157288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ROUGE-L-F1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5227" y="1518865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Moondream:1.8b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84846" y="1518865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42084" y="1518865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7.67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99322" y="1518865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0.68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56561" y="1518865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13799" y="1518865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5227" y="1880443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Moondream:1.8b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84846" y="1880443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42084" y="1880443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8.13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99322" y="1880443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56561" y="1880443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13799" y="1880443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5227" y="2242021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Qwen2.5VL:3b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84846" y="2242021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42084" y="2242021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17.62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99322" y="2242021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56561" y="2242021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13799" y="2242021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5227" y="2603599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Qwen2.5VL:3b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84846" y="2603599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2084" y="2603599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16.50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99322" y="2603599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56561" y="2603599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13799" y="2603599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0.18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5227" y="2965177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LLaVA:7b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984846" y="2965177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42084" y="2965177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54.35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99322" y="2965177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56561" y="2965177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13799" y="2965177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5227" y="3326755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LLaVA:7b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984846" y="3326755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42084" y="3326755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30.78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99322" y="3326755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56561" y="3326755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0.17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13799" y="3326755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0.13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5227" y="3688333"/>
            <a:ext cx="11069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BLIP-base (fine-tuned)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984846" y="3688333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N/A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342084" y="3688333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15.40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699322" y="3688333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20.53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56561" y="3688333"/>
            <a:ext cx="1561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13799" y="3688333"/>
            <a:ext cx="15641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0.37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6119" y="430872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Qwen2.5VL:3b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long prompt achieved the best zero-shot BLEU (1.84) and consistent ROUGE scores.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BLIP-base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(fine-tuned) dominated all metrics — BLEU 20.53%, ROUGE-1-F1 0.41 — but this reflects supervised adaptation, not a directly comparable zero-shot setting.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55848"/>
            <a:ext cx="7595741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Ablation Study: Sampling Parameters on Qwen2.5VL:3b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49610" y="961802"/>
            <a:ext cx="18623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Parameters Studied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49610" y="1252017"/>
            <a:ext cx="3985245" cy="702246"/>
          </a:xfrm>
          <a:prstGeom prst="roundRect">
            <a:avLst>
              <a:gd name="adj" fmla="val 976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5322" y="1252017"/>
            <a:ext cx="57150" cy="702246"/>
          </a:xfrm>
          <a:prstGeom prst="roundRect">
            <a:avLst>
              <a:gd name="adj" fmla="val 8261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9125" y="1378669"/>
            <a:ext cx="18623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(temp)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9125" y="1656159"/>
            <a:ext cx="41462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 randomness in word selection during caption generation.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9610" y="2056135"/>
            <a:ext cx="3985245" cy="702246"/>
          </a:xfrm>
          <a:prstGeom prst="roundRect">
            <a:avLst>
              <a:gd name="adj" fmla="val 976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5322" y="2056135"/>
            <a:ext cx="57150" cy="702246"/>
          </a:xfrm>
          <a:prstGeom prst="roundRect">
            <a:avLst>
              <a:gd name="adj" fmla="val 8261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125" y="2182788"/>
            <a:ext cx="2102867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Top-p (nucleus sampling)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9125" y="2460278"/>
            <a:ext cx="41462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Filters word pool by cumulative probability threshold.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9610" y="2860253"/>
            <a:ext cx="3985245" cy="702246"/>
          </a:xfrm>
          <a:prstGeom prst="roundRect">
            <a:avLst>
              <a:gd name="adj" fmla="val 976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5322" y="2860253"/>
            <a:ext cx="57150" cy="702246"/>
          </a:xfrm>
          <a:prstGeom prst="roundRect">
            <a:avLst>
              <a:gd name="adj" fmla="val 8261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9125" y="2986906"/>
            <a:ext cx="18623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Top-k sampling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125" y="3264396"/>
            <a:ext cx="41462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Limits selection to a fixed number of most probable next words.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13908" y="961802"/>
            <a:ext cx="18623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Ablation Results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13908" y="1252017"/>
            <a:ext cx="3985245" cy="2514302"/>
          </a:xfrm>
          <a:prstGeom prst="roundRect">
            <a:avLst>
              <a:gd name="adj" fmla="val 187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18670" y="1256779"/>
            <a:ext cx="3975274" cy="3031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31482" y="1322636"/>
            <a:ext cx="155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58805" y="1322636"/>
            <a:ext cx="15526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BLEU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83748" y="1322636"/>
            <a:ext cx="155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ROUGE-1-F1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18670" y="1559942"/>
            <a:ext cx="3975274" cy="4746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31482" y="1625798"/>
            <a:ext cx="10978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(default prompt)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58805" y="1625798"/>
            <a:ext cx="15526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83748" y="1625798"/>
            <a:ext cx="155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18670" y="2034555"/>
            <a:ext cx="3975274" cy="30316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31482" y="2100411"/>
            <a:ext cx="155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Long-Prompt only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58805" y="2100411"/>
            <a:ext cx="15526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83748" y="2100411"/>
            <a:ext cx="155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18670" y="2337718"/>
            <a:ext cx="3975274" cy="4746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31482" y="2403574"/>
            <a:ext cx="10978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temp=0.3, top_p=0.8, top_k=20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58805" y="2403574"/>
            <a:ext cx="15526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83748" y="2403574"/>
            <a:ext cx="155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18670" y="2812331"/>
            <a:ext cx="3975274" cy="4746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31482" y="2878187"/>
            <a:ext cx="10978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temp=0.65, top_p=0.85, top_k=30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58805" y="2878187"/>
            <a:ext cx="15526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83748" y="2878187"/>
            <a:ext cx="155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18670" y="3286944"/>
            <a:ext cx="3975274" cy="4746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31482" y="3352800"/>
            <a:ext cx="10978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temp=1.0, top_p=0.9, top_k=40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58805" y="3352800"/>
            <a:ext cx="15526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83748" y="3352800"/>
            <a:ext cx="15550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0.19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13908" y="3880917"/>
            <a:ext cx="3985245" cy="792138"/>
          </a:xfrm>
          <a:prstGeom prst="roundRect">
            <a:avLst>
              <a:gd name="adj" fmla="val 5960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273" y="4046786"/>
            <a:ext cx="140494" cy="112365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5079132" y="4010844"/>
            <a:ext cx="350765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 BLEU of 2.14 achieved at temp=0.65, top_p=0.85, top_k=30 — a 24.8% improvement over the long-prompt baseline (1.84) and 60.9% over the default (1.33).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4B401-F8BB-E7C7-C848-5DA18A30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645D3E-CA2D-DC2A-88C6-2055566A3656}"/>
              </a:ext>
            </a:extLst>
          </p:cNvPr>
          <p:cNvSpPr/>
          <p:nvPr/>
        </p:nvSpPr>
        <p:spPr>
          <a:xfrm>
            <a:off x="449610" y="355848"/>
            <a:ext cx="7595741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 Examples</a:t>
            </a: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2200" dirty="0"/>
          </a:p>
        </p:txBody>
      </p: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ECD7ABD1-8B95-2F5B-3E8F-56BAD17BD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186804"/>
              </p:ext>
            </p:extLst>
          </p:nvPr>
        </p:nvGraphicFramePr>
        <p:xfrm>
          <a:off x="449610" y="1060704"/>
          <a:ext cx="5041392" cy="1426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1C79137D-3F9C-160A-97F6-80B8693D4E98}"/>
              </a:ext>
            </a:extLst>
          </p:cNvPr>
          <p:cNvSpPr/>
          <p:nvPr/>
        </p:nvSpPr>
        <p:spPr>
          <a:xfrm>
            <a:off x="585216" y="2310384"/>
            <a:ext cx="7973568" cy="3398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571CA35-A408-AB3B-10CB-F15E96636BC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909" b="26574"/>
          <a:stretch>
            <a:fillRect/>
          </a:stretch>
        </p:blipFill>
        <p:spPr>
          <a:xfrm>
            <a:off x="6025003" y="450712"/>
            <a:ext cx="2385321" cy="170840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7E8FCFD-E03D-ECF0-9172-92C3DC138C54}"/>
              </a:ext>
            </a:extLst>
          </p:cNvPr>
          <p:cNvSpPr/>
          <p:nvPr/>
        </p:nvSpPr>
        <p:spPr>
          <a:xfrm>
            <a:off x="5876544" y="355848"/>
            <a:ext cx="2682240" cy="18981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C880A-1B8D-551A-4AD2-091E117F4C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16" y="2787325"/>
            <a:ext cx="7973568" cy="2088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F768C-7396-5FCF-B899-57145699CD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06" y="2368152"/>
            <a:ext cx="7689918" cy="24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60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73164-CAE4-75B0-18DC-B523FDBA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E57173-8AB5-CBE2-4772-140D52F2FDE2}"/>
              </a:ext>
            </a:extLst>
          </p:cNvPr>
          <p:cNvSpPr/>
          <p:nvPr/>
        </p:nvSpPr>
        <p:spPr>
          <a:xfrm>
            <a:off x="449610" y="355848"/>
            <a:ext cx="7595741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de-DE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 Examples</a:t>
            </a: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2200" dirty="0"/>
          </a:p>
        </p:txBody>
      </p: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DF2E9AC0-58EC-9B3C-85C0-B48C7D77CD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0236833"/>
              </p:ext>
            </p:extLst>
          </p:nvPr>
        </p:nvGraphicFramePr>
        <p:xfrm>
          <a:off x="449610" y="1060704"/>
          <a:ext cx="5041392" cy="1432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FF66277-112B-B632-6FA5-F704202160C0}"/>
              </a:ext>
            </a:extLst>
          </p:cNvPr>
          <p:cNvSpPr/>
          <p:nvPr/>
        </p:nvSpPr>
        <p:spPr>
          <a:xfrm>
            <a:off x="585216" y="2310384"/>
            <a:ext cx="7973568" cy="3398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9B26D-06B1-C662-FD5D-E69B728D10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909" b="26574"/>
          <a:stretch>
            <a:fillRect/>
          </a:stretch>
        </p:blipFill>
        <p:spPr>
          <a:xfrm>
            <a:off x="6025003" y="450712"/>
            <a:ext cx="2385321" cy="170840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B8EC48-3CD7-CDEE-3D5D-99A17C45FF2D}"/>
              </a:ext>
            </a:extLst>
          </p:cNvPr>
          <p:cNvSpPr/>
          <p:nvPr/>
        </p:nvSpPr>
        <p:spPr>
          <a:xfrm>
            <a:off x="5876544" y="355848"/>
            <a:ext cx="2682240" cy="18981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E8CF4-4FA7-BBF3-85E5-82A4A885B3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406" y="2372764"/>
            <a:ext cx="7703188" cy="234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F22D22-24D1-E8CF-887B-994197851C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" y="2805432"/>
            <a:ext cx="7973568" cy="200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923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9640" y="350639"/>
            <a:ext cx="3461445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3909640" y="900708"/>
            <a:ext cx="4753719" cy="885751"/>
          </a:xfrm>
          <a:prstGeom prst="roundRect">
            <a:avLst>
              <a:gd name="adj" fmla="val 569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34507" y="1025575"/>
            <a:ext cx="2052638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Prompt Design Matters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34507" y="1283122"/>
            <a:ext cx="450398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engineering and decoding parameters substantially affect corpus-level scores — often more than model size alone.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909640" y="1902842"/>
            <a:ext cx="4753719" cy="885751"/>
          </a:xfrm>
          <a:prstGeom prst="roundRect">
            <a:avLst>
              <a:gd name="adj" fmla="val 569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34507" y="2027709"/>
            <a:ext cx="244874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Lightweight VLMs Are Viable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34507" y="2285256"/>
            <a:ext cx="450398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Optimized Qwen2.5VL:3b performed competitively in ROUGE-based structural alignment, demonstrating practical value for secure, local deployments.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09640" y="2904976"/>
            <a:ext cx="4753719" cy="885751"/>
          </a:xfrm>
          <a:prstGeom prst="roundRect">
            <a:avLst>
              <a:gd name="adj" fmla="val 569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34507" y="3029843"/>
            <a:ext cx="242173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Fine-Tuning Wins on Metrics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034507" y="3287390"/>
            <a:ext cx="450398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BLIP-base fine-tuned achieved BLEU 20.53% and ROUGE-1-F1 0.41, but reflects supervised adaptation — not a zero-shot comparison.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909640" y="3907110"/>
            <a:ext cx="4753719" cy="885751"/>
          </a:xfrm>
          <a:prstGeom prst="roundRect">
            <a:avLst>
              <a:gd name="adj" fmla="val 5698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34507" y="4031977"/>
            <a:ext cx="219380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Integration Potential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34507" y="4289524"/>
            <a:ext cx="4503986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models offer a practical path for cost-aware documentation workflows that can integrate with Retrieval-Augmented Generation (RAG) pipelines.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32941"/>
            <a:ext cx="350988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64856" y="1054819"/>
            <a:ext cx="14288" cy="3006775"/>
          </a:xfrm>
          <a:prstGeom prst="roundRect">
            <a:avLst>
              <a:gd name="adj" fmla="val 35894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082653" y="1185044"/>
            <a:ext cx="366266" cy="14288"/>
          </a:xfrm>
          <a:prstGeom prst="roundRect">
            <a:avLst>
              <a:gd name="adj" fmla="val 35894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434632" y="1054819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51833" y="1077739"/>
            <a:ext cx="4117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78000" y="109678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Expand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8379" y="1359619"/>
            <a:ext cx="347312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 beyond 120 images to improve generalizability of findings across more project categories.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5081" y="1913781"/>
            <a:ext cx="366266" cy="14288"/>
          </a:xfrm>
          <a:prstGeom prst="roundRect">
            <a:avLst>
              <a:gd name="adj" fmla="val 35894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4632" y="1783556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833" y="1806476"/>
            <a:ext cx="4117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82493" y="1825526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VLM Variants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82493" y="2088356"/>
            <a:ext cx="347312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larger Qwen2.5-VL and BLIP-base variants to broaden the model comparison landscape.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82653" y="2543324"/>
            <a:ext cx="366266" cy="14288"/>
          </a:xfrm>
          <a:prstGeom prst="roundRect">
            <a:avLst>
              <a:gd name="adj" fmla="val 35894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34632" y="2413099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833" y="2436019"/>
            <a:ext cx="4117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78000" y="2455069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Metrics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8379" y="2717899"/>
            <a:ext cx="347312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CLIPScore and/or BERTScore for richer semantic evaluation beyond n-gram overlap.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5081" y="3172941"/>
            <a:ext cx="366266" cy="14288"/>
          </a:xfrm>
          <a:prstGeom prst="roundRect">
            <a:avLst>
              <a:gd name="adj" fmla="val 35894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34632" y="3042717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833" y="3065636"/>
            <a:ext cx="4117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2493" y="3084686"/>
            <a:ext cx="19835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Qualitative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82493" y="3347517"/>
            <a:ext cx="347312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in-depth analysis of prompt templates and length effects on caption quality in LLMs.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8379" y="4196804"/>
            <a:ext cx="8167241" cy="513680"/>
          </a:xfrm>
          <a:prstGeom prst="roundRect">
            <a:avLst>
              <a:gd name="adj" fmla="val 9984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19" y="4380681"/>
            <a:ext cx="152623" cy="12203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85081" y="4347493"/>
            <a:ext cx="81057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work was supported by the Institute of Technology and Engineering (ITE) at Forschungszentrum Jülich. Contact: </a:t>
            </a:r>
            <a:r>
              <a:rPr lang="en-US" sz="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o.hamed@fz-juelich.de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Office PowerPoint</Application>
  <PresentationFormat>On-screen Show (16:9)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Raleway</vt:lpstr>
      <vt:lpstr>Arial</vt:lpstr>
      <vt:lpstr>Wingdings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Patil, Vibhav</dc:creator>
  <cp:lastModifiedBy>Patil, Vibhav</cp:lastModifiedBy>
  <cp:revision>19</cp:revision>
  <dcterms:created xsi:type="dcterms:W3CDTF">2026-05-19T13:15:29Z</dcterms:created>
  <dcterms:modified xsi:type="dcterms:W3CDTF">2026-06-11T11:30:23Z</dcterms:modified>
</cp:coreProperties>
</file>