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"/>
  </p:notesMasterIdLst>
  <p:sldIdLst>
    <p:sldId id="269" r:id="rId2"/>
    <p:sldId id="270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4B4D71-6311-4D7A-B58E-3CF36A6098D0}" type="doc">
      <dgm:prSet loTypeId="urn:microsoft.com/office/officeart/2011/layout/TabList" loCatId="officeonline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de-DE"/>
        </a:p>
      </dgm:t>
    </dgm:pt>
    <dgm:pt modelId="{0C78341E-759D-49FE-A468-24ED0DD4BB39}">
      <dgm:prSet phldrT="[Text]" phldr="0"/>
      <dgm:spPr/>
      <dgm:t>
        <a:bodyPr/>
        <a:lstStyle/>
        <a:p>
          <a:r>
            <a:rPr lang="de-DE" dirty="0">
              <a:solidFill>
                <a:schemeClr val="tx1"/>
              </a:solidFill>
              <a:latin typeface="Raleway" pitchFamily="2" charset="0"/>
            </a:rPr>
            <a:t>Moondream</a:t>
          </a:r>
        </a:p>
      </dgm:t>
    </dgm:pt>
    <dgm:pt modelId="{E97C561F-DB85-46DA-841A-D6E883C95C22}" type="parTrans" cxnId="{B8675117-752A-4500-B2BA-8D5DE75DC17F}">
      <dgm:prSet/>
      <dgm:spPr/>
      <dgm:t>
        <a:bodyPr/>
        <a:lstStyle/>
        <a:p>
          <a:endParaRPr lang="de-DE"/>
        </a:p>
      </dgm:t>
    </dgm:pt>
    <dgm:pt modelId="{F4010813-5DCF-4C43-85C3-813BA1BD86A9}" type="sibTrans" cxnId="{B8675117-752A-4500-B2BA-8D5DE75DC17F}">
      <dgm:prSet/>
      <dgm:spPr/>
      <dgm:t>
        <a:bodyPr/>
        <a:lstStyle/>
        <a:p>
          <a:endParaRPr lang="de-DE"/>
        </a:p>
      </dgm:t>
    </dgm:pt>
    <dgm:pt modelId="{BF8779A3-EFA5-485B-B7D2-BD048792EF5E}">
      <dgm:prSet phldrT="[Text]" phldr="0"/>
      <dgm:spPr/>
      <dgm:t>
        <a:bodyPr/>
        <a:lstStyle/>
        <a:p>
          <a:r>
            <a:rPr lang="de-DE" dirty="0">
              <a:latin typeface="Raleway" pitchFamily="2" charset="0"/>
              <a:ea typeface="Roboto" panose="02000000000000000000" pitchFamily="2" charset="0"/>
              <a:cs typeface="Roboto" panose="02000000000000000000" pitchFamily="2" charset="0"/>
            </a:rPr>
            <a:t>1.8b</a:t>
          </a:r>
        </a:p>
      </dgm:t>
    </dgm:pt>
    <dgm:pt modelId="{29C75388-66EB-43F0-9F66-F7FD9ACED632}" type="parTrans" cxnId="{4927F5C1-C210-4BE6-A9A5-F1D49100E562}">
      <dgm:prSet/>
      <dgm:spPr/>
      <dgm:t>
        <a:bodyPr/>
        <a:lstStyle/>
        <a:p>
          <a:endParaRPr lang="de-DE"/>
        </a:p>
      </dgm:t>
    </dgm:pt>
    <dgm:pt modelId="{2D3C61BE-8B7B-4201-8A42-6CA638488D7F}" type="sibTrans" cxnId="{4927F5C1-C210-4BE6-A9A5-F1D49100E562}">
      <dgm:prSet/>
      <dgm:spPr/>
      <dgm:t>
        <a:bodyPr/>
        <a:lstStyle/>
        <a:p>
          <a:endParaRPr lang="de-DE"/>
        </a:p>
      </dgm:t>
    </dgm:pt>
    <dgm:pt modelId="{57E1EE4F-C77B-4EB9-8184-D6EAF878B828}">
      <dgm:prSet phldrT="[Text]" phldr="0"/>
      <dgm:spPr/>
      <dgm:t>
        <a:bodyPr/>
        <a:lstStyle/>
        <a:p>
          <a:r>
            <a:rPr lang="de-D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Ground Truth: Two wooden crates stacked on top of each other, each labeled with a number.</a:t>
          </a:r>
        </a:p>
      </dgm:t>
    </dgm:pt>
    <dgm:pt modelId="{65E8642A-F94F-43E1-BCA1-9FAF464D9CA5}" type="parTrans" cxnId="{4DA48A8E-E59B-4C11-8C6C-215BA250D9E8}">
      <dgm:prSet/>
      <dgm:spPr/>
      <dgm:t>
        <a:bodyPr/>
        <a:lstStyle/>
        <a:p>
          <a:endParaRPr lang="de-DE"/>
        </a:p>
      </dgm:t>
    </dgm:pt>
    <dgm:pt modelId="{EB209098-9C5D-45CE-A9A4-9E5AF90C59EA}" type="sibTrans" cxnId="{4DA48A8E-E59B-4C11-8C6C-215BA250D9E8}">
      <dgm:prSet/>
      <dgm:spPr/>
      <dgm:t>
        <a:bodyPr/>
        <a:lstStyle/>
        <a:p>
          <a:endParaRPr lang="de-DE"/>
        </a:p>
      </dgm:t>
    </dgm:pt>
    <dgm:pt modelId="{FB12279F-B540-4EAD-BF4E-7B934F8E4D27}">
      <dgm:prSet phldrT="[Text]" phldr="0"/>
      <dgm:spPr/>
      <dgm:t>
        <a:bodyPr/>
        <a:lstStyle/>
        <a:p>
          <a:r>
            <a:rPr lang="de-DE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AI Captions: Containers on top of each other in a warehouse.</a:t>
          </a:r>
        </a:p>
      </dgm:t>
    </dgm:pt>
    <dgm:pt modelId="{B2CDC885-AE61-4691-9B08-3DB81F055E7B}" type="parTrans" cxnId="{2CCA9E96-3986-4DE1-947C-401E36347C77}">
      <dgm:prSet/>
      <dgm:spPr/>
      <dgm:t>
        <a:bodyPr/>
        <a:lstStyle/>
        <a:p>
          <a:endParaRPr lang="de-DE"/>
        </a:p>
      </dgm:t>
    </dgm:pt>
    <dgm:pt modelId="{C2B786F7-9B62-4396-8E3E-3CD29558F220}" type="sibTrans" cxnId="{2CCA9E96-3986-4DE1-947C-401E36347C77}">
      <dgm:prSet/>
      <dgm:spPr/>
      <dgm:t>
        <a:bodyPr/>
        <a:lstStyle/>
        <a:p>
          <a:endParaRPr lang="de-DE"/>
        </a:p>
      </dgm:t>
    </dgm:pt>
    <dgm:pt modelId="{EB59EAD4-055A-4EB3-9268-17165F7D229E}" type="pres">
      <dgm:prSet presAssocID="{8D4B4D71-6311-4D7A-B58E-3CF36A6098D0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E7BBA875-670C-4157-A7A8-10B546BD42E9}" type="pres">
      <dgm:prSet presAssocID="{0C78341E-759D-49FE-A468-24ED0DD4BB39}" presName="composite" presStyleCnt="0"/>
      <dgm:spPr/>
    </dgm:pt>
    <dgm:pt modelId="{561D90EE-E6F0-4760-9832-22E5AAE5E477}" type="pres">
      <dgm:prSet presAssocID="{0C78341E-759D-49FE-A468-24ED0DD4BB39}" presName="FirstChild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24DA7730-927D-42CB-8ED5-8FD998B69726}" type="pres">
      <dgm:prSet presAssocID="{0C78341E-759D-49FE-A468-24ED0DD4BB39}" presName="Parent" presStyleLbl="alignNode1" presStyleIdx="0" presStyleCnt="1">
        <dgm:presLayoutVars>
          <dgm:chMax val="3"/>
          <dgm:chPref val="3"/>
          <dgm:bulletEnabled val="1"/>
        </dgm:presLayoutVars>
      </dgm:prSet>
      <dgm:spPr/>
    </dgm:pt>
    <dgm:pt modelId="{7755493C-1CBE-40D0-B6A0-0237B08AE5EF}" type="pres">
      <dgm:prSet presAssocID="{0C78341E-759D-49FE-A468-24ED0DD4BB39}" presName="Accent" presStyleLbl="parChTrans1D1" presStyleIdx="0" presStyleCnt="1"/>
      <dgm:spPr/>
    </dgm:pt>
    <dgm:pt modelId="{3968B64B-4822-47DF-A282-627BE788FAEB}" type="pres">
      <dgm:prSet presAssocID="{0C78341E-759D-49FE-A468-24ED0DD4BB39}" presName="Child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8675117-752A-4500-B2BA-8D5DE75DC17F}" srcId="{8D4B4D71-6311-4D7A-B58E-3CF36A6098D0}" destId="{0C78341E-759D-49FE-A468-24ED0DD4BB39}" srcOrd="0" destOrd="0" parTransId="{E97C561F-DB85-46DA-841A-D6E883C95C22}" sibTransId="{F4010813-5DCF-4C43-85C3-813BA1BD86A9}"/>
    <dgm:cxn modelId="{FF24C06A-5423-4C07-82D7-0267F7DDC40C}" type="presOf" srcId="{BF8779A3-EFA5-485B-B7D2-BD048792EF5E}" destId="{561D90EE-E6F0-4760-9832-22E5AAE5E477}" srcOrd="0" destOrd="0" presId="urn:microsoft.com/office/officeart/2011/layout/TabList"/>
    <dgm:cxn modelId="{44B2814B-E3B7-444C-8693-A77B1B60F116}" type="presOf" srcId="{FB12279F-B540-4EAD-BF4E-7B934F8E4D27}" destId="{3968B64B-4822-47DF-A282-627BE788FAEB}" srcOrd="0" destOrd="1" presId="urn:microsoft.com/office/officeart/2011/layout/TabList"/>
    <dgm:cxn modelId="{4DA48A8E-E59B-4C11-8C6C-215BA250D9E8}" srcId="{0C78341E-759D-49FE-A468-24ED0DD4BB39}" destId="{57E1EE4F-C77B-4EB9-8184-D6EAF878B828}" srcOrd="1" destOrd="0" parTransId="{65E8642A-F94F-43E1-BCA1-9FAF464D9CA5}" sibTransId="{EB209098-9C5D-45CE-A9A4-9E5AF90C59EA}"/>
    <dgm:cxn modelId="{2CCA9E96-3986-4DE1-947C-401E36347C77}" srcId="{0C78341E-759D-49FE-A468-24ED0DD4BB39}" destId="{FB12279F-B540-4EAD-BF4E-7B934F8E4D27}" srcOrd="2" destOrd="0" parTransId="{B2CDC885-AE61-4691-9B08-3DB81F055E7B}" sibTransId="{C2B786F7-9B62-4396-8E3E-3CD29558F220}"/>
    <dgm:cxn modelId="{25FD4D9C-7EAC-4A10-B3C0-DA52C746D3ED}" type="presOf" srcId="{8D4B4D71-6311-4D7A-B58E-3CF36A6098D0}" destId="{EB59EAD4-055A-4EB3-9268-17165F7D229E}" srcOrd="0" destOrd="0" presId="urn:microsoft.com/office/officeart/2011/layout/TabList"/>
    <dgm:cxn modelId="{4927F5C1-C210-4BE6-A9A5-F1D49100E562}" srcId="{0C78341E-759D-49FE-A468-24ED0DD4BB39}" destId="{BF8779A3-EFA5-485B-B7D2-BD048792EF5E}" srcOrd="0" destOrd="0" parTransId="{29C75388-66EB-43F0-9F66-F7FD9ACED632}" sibTransId="{2D3C61BE-8B7B-4201-8A42-6CA638488D7F}"/>
    <dgm:cxn modelId="{9C7D66C6-39B0-4656-A685-2CDE39A7E8F9}" type="presOf" srcId="{57E1EE4F-C77B-4EB9-8184-D6EAF878B828}" destId="{3968B64B-4822-47DF-A282-627BE788FAEB}" srcOrd="0" destOrd="0" presId="urn:microsoft.com/office/officeart/2011/layout/TabList"/>
    <dgm:cxn modelId="{7A9FE1EE-9DA7-4E2B-A01E-9C87384C1134}" type="presOf" srcId="{0C78341E-759D-49FE-A468-24ED0DD4BB39}" destId="{24DA7730-927D-42CB-8ED5-8FD998B69726}" srcOrd="0" destOrd="0" presId="urn:microsoft.com/office/officeart/2011/layout/TabList"/>
    <dgm:cxn modelId="{428C9260-AB31-4775-8D00-871164396907}" type="presParOf" srcId="{EB59EAD4-055A-4EB3-9268-17165F7D229E}" destId="{E7BBA875-670C-4157-A7A8-10B546BD42E9}" srcOrd="0" destOrd="0" presId="urn:microsoft.com/office/officeart/2011/layout/TabList"/>
    <dgm:cxn modelId="{5201BABF-9409-4B00-A8D7-C68C32721EC6}" type="presParOf" srcId="{E7BBA875-670C-4157-A7A8-10B546BD42E9}" destId="{561D90EE-E6F0-4760-9832-22E5AAE5E477}" srcOrd="0" destOrd="0" presId="urn:microsoft.com/office/officeart/2011/layout/TabList"/>
    <dgm:cxn modelId="{D8711552-A45F-42F2-9D00-17BF28C5E3A4}" type="presParOf" srcId="{E7BBA875-670C-4157-A7A8-10B546BD42E9}" destId="{24DA7730-927D-42CB-8ED5-8FD998B69726}" srcOrd="1" destOrd="0" presId="urn:microsoft.com/office/officeart/2011/layout/TabList"/>
    <dgm:cxn modelId="{F0A0CA22-53A3-4B7C-A60C-9647F1783CAC}" type="presParOf" srcId="{E7BBA875-670C-4157-A7A8-10B546BD42E9}" destId="{7755493C-1CBE-40D0-B6A0-0237B08AE5EF}" srcOrd="2" destOrd="0" presId="urn:microsoft.com/office/officeart/2011/layout/TabList"/>
    <dgm:cxn modelId="{46AB5FAF-6EF7-4688-954F-FC2FD620651E}" type="presParOf" srcId="{EB59EAD4-055A-4EB3-9268-17165F7D229E}" destId="{3968B64B-4822-47DF-A282-627BE788FAEB}" srcOrd="1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4B4D71-6311-4D7A-B58E-3CF36A6098D0}" type="doc">
      <dgm:prSet loTypeId="urn:microsoft.com/office/officeart/2011/layout/TabList" loCatId="officeonline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de-DE"/>
        </a:p>
      </dgm:t>
    </dgm:pt>
    <dgm:pt modelId="{B59BD016-15FF-4C61-B226-128328B57FE5}">
      <dgm:prSet phldrT="[Text]" phldr="0" custT="1"/>
      <dgm:spPr/>
      <dgm:t>
        <a:bodyPr/>
        <a:lstStyle/>
        <a:p>
          <a:r>
            <a:rPr lang="de-DE" sz="1600" dirty="0">
              <a:solidFill>
                <a:schemeClr val="tx1"/>
              </a:solidFill>
              <a:latin typeface="Raleway" pitchFamily="2" charset="0"/>
            </a:rPr>
            <a:t>Qwen2.5VL</a:t>
          </a:r>
        </a:p>
      </dgm:t>
    </dgm:pt>
    <dgm:pt modelId="{3075F9FD-771C-4FEF-A373-C4DE9B81205E}" type="parTrans" cxnId="{AE62B86A-DA62-48A2-A597-D9DEF1C70519}">
      <dgm:prSet/>
      <dgm:spPr/>
      <dgm:t>
        <a:bodyPr/>
        <a:lstStyle/>
        <a:p>
          <a:endParaRPr lang="de-DE"/>
        </a:p>
      </dgm:t>
    </dgm:pt>
    <dgm:pt modelId="{B4D0D781-60FE-4916-AB2C-A0F0CA498DC4}" type="sibTrans" cxnId="{AE62B86A-DA62-48A2-A597-D9DEF1C70519}">
      <dgm:prSet/>
      <dgm:spPr/>
      <dgm:t>
        <a:bodyPr/>
        <a:lstStyle/>
        <a:p>
          <a:endParaRPr lang="de-DE"/>
        </a:p>
      </dgm:t>
    </dgm:pt>
    <dgm:pt modelId="{0AC1CAE2-8F76-448B-921E-EE9F1EA5E1E6}">
      <dgm:prSet phldrT="[Text]" phldr="0" custT="1"/>
      <dgm:spPr/>
      <dgm:t>
        <a:bodyPr/>
        <a:lstStyle/>
        <a:p>
          <a:r>
            <a:rPr lang="de-DE" sz="1600" dirty="0">
              <a:latin typeface="Raleway" pitchFamily="2" charset="0"/>
            </a:rPr>
            <a:t>3b</a:t>
          </a:r>
        </a:p>
      </dgm:t>
    </dgm:pt>
    <dgm:pt modelId="{26D6E46C-EA37-422C-9B3B-8D3ECCF17A68}" type="parTrans" cxnId="{31577F6D-7EBE-446B-9079-586A10782A52}">
      <dgm:prSet/>
      <dgm:spPr/>
      <dgm:t>
        <a:bodyPr/>
        <a:lstStyle/>
        <a:p>
          <a:endParaRPr lang="de-DE"/>
        </a:p>
      </dgm:t>
    </dgm:pt>
    <dgm:pt modelId="{DD1799CE-5046-43B5-9710-BE6EC071B265}" type="sibTrans" cxnId="{31577F6D-7EBE-446B-9079-586A10782A52}">
      <dgm:prSet/>
      <dgm:spPr/>
      <dgm:t>
        <a:bodyPr/>
        <a:lstStyle/>
        <a:p>
          <a:endParaRPr lang="de-DE"/>
        </a:p>
      </dgm:t>
    </dgm:pt>
    <dgm:pt modelId="{FBE1C583-9745-413C-8AAF-70300411E8AA}">
      <dgm:prSet phldrT="[Text]" phldr="0" custT="1"/>
      <dgm:spPr/>
      <dgm:t>
        <a:bodyPr/>
        <a:lstStyle/>
        <a:p>
          <a:r>
            <a:rPr lang="de-DE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Ground Truth: </a:t>
          </a:r>
          <a:r>
            <a: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Two wooden crates stacked on top of each other , each labeled with a number</a:t>
          </a:r>
          <a:endParaRPr lang="de-DE" sz="1200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0DFBC25C-56B2-4BFD-9A01-5564138E4145}" type="parTrans" cxnId="{DFB37968-41D3-4CFD-809F-56F9A5466C7A}">
      <dgm:prSet/>
      <dgm:spPr/>
      <dgm:t>
        <a:bodyPr/>
        <a:lstStyle/>
        <a:p>
          <a:endParaRPr lang="de-DE"/>
        </a:p>
      </dgm:t>
    </dgm:pt>
    <dgm:pt modelId="{80E1B8A7-C88B-4AC5-949B-8B9C5B14F4A9}" type="sibTrans" cxnId="{DFB37968-41D3-4CFD-809F-56F9A5466C7A}">
      <dgm:prSet/>
      <dgm:spPr/>
      <dgm:t>
        <a:bodyPr/>
        <a:lstStyle/>
        <a:p>
          <a:endParaRPr lang="de-DE"/>
        </a:p>
      </dgm:t>
    </dgm:pt>
    <dgm:pt modelId="{2C82D0D1-B90E-400C-A32A-5CC8EDAE6812}">
      <dgm:prSet phldrT="[Text]" phldr="0" custT="1"/>
      <dgm:spPr/>
      <dgm:t>
        <a:bodyPr/>
        <a:lstStyle/>
        <a:p>
          <a:r>
            <a:rPr lang="de-DE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AI Captions: </a:t>
          </a:r>
          <a:r>
            <a:rPr lang="en-US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 stack of wooden crates, each labeled with '190401' and '2X', secured with metal brackets.</a:t>
          </a:r>
          <a:endParaRPr lang="de-DE" sz="1200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gm:t>
    </dgm:pt>
    <dgm:pt modelId="{FA2B36CB-03BB-435E-A179-35BA632C25F7}" type="parTrans" cxnId="{B2C4098E-16E9-4047-99D7-331FF93CEE00}">
      <dgm:prSet/>
      <dgm:spPr/>
      <dgm:t>
        <a:bodyPr/>
        <a:lstStyle/>
        <a:p>
          <a:endParaRPr lang="de-DE"/>
        </a:p>
      </dgm:t>
    </dgm:pt>
    <dgm:pt modelId="{E57851A9-E0CD-4B15-B41F-CC3EF368C6D5}" type="sibTrans" cxnId="{B2C4098E-16E9-4047-99D7-331FF93CEE00}">
      <dgm:prSet/>
      <dgm:spPr/>
      <dgm:t>
        <a:bodyPr/>
        <a:lstStyle/>
        <a:p>
          <a:endParaRPr lang="de-DE"/>
        </a:p>
      </dgm:t>
    </dgm:pt>
    <dgm:pt modelId="{EB59EAD4-055A-4EB3-9268-17165F7D229E}" type="pres">
      <dgm:prSet presAssocID="{8D4B4D71-6311-4D7A-B58E-3CF36A6098D0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C16A69B5-D97C-457E-BD51-1353DFE67AE7}" type="pres">
      <dgm:prSet presAssocID="{B59BD016-15FF-4C61-B226-128328B57FE5}" presName="composite" presStyleCnt="0"/>
      <dgm:spPr/>
    </dgm:pt>
    <dgm:pt modelId="{E3CF0F59-07F0-4FC7-B365-40F2F66C1BB0}" type="pres">
      <dgm:prSet presAssocID="{B59BD016-15FF-4C61-B226-128328B57FE5}" presName="FirstChild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05D3F53E-33DC-401D-86B4-5FE8C81A6FEF}" type="pres">
      <dgm:prSet presAssocID="{B59BD016-15FF-4C61-B226-128328B57FE5}" presName="Parent" presStyleLbl="alignNode1" presStyleIdx="0" presStyleCnt="1">
        <dgm:presLayoutVars>
          <dgm:chMax val="3"/>
          <dgm:chPref val="3"/>
          <dgm:bulletEnabled val="1"/>
        </dgm:presLayoutVars>
      </dgm:prSet>
      <dgm:spPr/>
    </dgm:pt>
    <dgm:pt modelId="{B53B6C99-E7DC-40EE-A443-E982DAF1C728}" type="pres">
      <dgm:prSet presAssocID="{B59BD016-15FF-4C61-B226-128328B57FE5}" presName="Accent" presStyleLbl="parChTrans1D1" presStyleIdx="0" presStyleCnt="1"/>
      <dgm:spPr/>
    </dgm:pt>
    <dgm:pt modelId="{23F77289-44EC-438C-9C6D-1D052851246C}" type="pres">
      <dgm:prSet presAssocID="{B59BD016-15FF-4C61-B226-128328B57FE5}" presName="Child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C8030335-91CB-427D-B0EE-90AD2216DA29}" type="presOf" srcId="{0AC1CAE2-8F76-448B-921E-EE9F1EA5E1E6}" destId="{E3CF0F59-07F0-4FC7-B365-40F2F66C1BB0}" srcOrd="0" destOrd="0" presId="urn:microsoft.com/office/officeart/2011/layout/TabList"/>
    <dgm:cxn modelId="{DFB37968-41D3-4CFD-809F-56F9A5466C7A}" srcId="{B59BD016-15FF-4C61-B226-128328B57FE5}" destId="{FBE1C583-9745-413C-8AAF-70300411E8AA}" srcOrd="1" destOrd="0" parTransId="{0DFBC25C-56B2-4BFD-9A01-5564138E4145}" sibTransId="{80E1B8A7-C88B-4AC5-949B-8B9C5B14F4A9}"/>
    <dgm:cxn modelId="{AE62B86A-DA62-48A2-A597-D9DEF1C70519}" srcId="{8D4B4D71-6311-4D7A-B58E-3CF36A6098D0}" destId="{B59BD016-15FF-4C61-B226-128328B57FE5}" srcOrd="0" destOrd="0" parTransId="{3075F9FD-771C-4FEF-A373-C4DE9B81205E}" sibTransId="{B4D0D781-60FE-4916-AB2C-A0F0CA498DC4}"/>
    <dgm:cxn modelId="{31577F6D-7EBE-446B-9079-586A10782A52}" srcId="{B59BD016-15FF-4C61-B226-128328B57FE5}" destId="{0AC1CAE2-8F76-448B-921E-EE9F1EA5E1E6}" srcOrd="0" destOrd="0" parTransId="{26D6E46C-EA37-422C-9B3B-8D3ECCF17A68}" sibTransId="{DD1799CE-5046-43B5-9710-BE6EC071B265}"/>
    <dgm:cxn modelId="{B2C4098E-16E9-4047-99D7-331FF93CEE00}" srcId="{B59BD016-15FF-4C61-B226-128328B57FE5}" destId="{2C82D0D1-B90E-400C-A32A-5CC8EDAE6812}" srcOrd="2" destOrd="0" parTransId="{FA2B36CB-03BB-435E-A179-35BA632C25F7}" sibTransId="{E57851A9-E0CD-4B15-B41F-CC3EF368C6D5}"/>
    <dgm:cxn modelId="{D667139C-35AF-40F6-ABBB-18EEB743AD75}" type="presOf" srcId="{2C82D0D1-B90E-400C-A32A-5CC8EDAE6812}" destId="{23F77289-44EC-438C-9C6D-1D052851246C}" srcOrd="0" destOrd="1" presId="urn:microsoft.com/office/officeart/2011/layout/TabList"/>
    <dgm:cxn modelId="{25FD4D9C-7EAC-4A10-B3C0-DA52C746D3ED}" type="presOf" srcId="{8D4B4D71-6311-4D7A-B58E-3CF36A6098D0}" destId="{EB59EAD4-055A-4EB3-9268-17165F7D229E}" srcOrd="0" destOrd="0" presId="urn:microsoft.com/office/officeart/2011/layout/TabList"/>
    <dgm:cxn modelId="{FF6D23ED-D644-4F71-A567-EAC8C103FC84}" type="presOf" srcId="{FBE1C583-9745-413C-8AAF-70300411E8AA}" destId="{23F77289-44EC-438C-9C6D-1D052851246C}" srcOrd="0" destOrd="0" presId="urn:microsoft.com/office/officeart/2011/layout/TabList"/>
    <dgm:cxn modelId="{ECC4CEED-61F6-4476-8E9B-6DCAE5117EB6}" type="presOf" srcId="{B59BD016-15FF-4C61-B226-128328B57FE5}" destId="{05D3F53E-33DC-401D-86B4-5FE8C81A6FEF}" srcOrd="0" destOrd="0" presId="urn:microsoft.com/office/officeart/2011/layout/TabList"/>
    <dgm:cxn modelId="{4906C9BF-8C5A-4D6E-90F5-DC9F3C2C083D}" type="presParOf" srcId="{EB59EAD4-055A-4EB3-9268-17165F7D229E}" destId="{C16A69B5-D97C-457E-BD51-1353DFE67AE7}" srcOrd="0" destOrd="0" presId="urn:microsoft.com/office/officeart/2011/layout/TabList"/>
    <dgm:cxn modelId="{EE0C4C87-12B9-4672-AD72-B6724E66583B}" type="presParOf" srcId="{C16A69B5-D97C-457E-BD51-1353DFE67AE7}" destId="{E3CF0F59-07F0-4FC7-B365-40F2F66C1BB0}" srcOrd="0" destOrd="0" presId="urn:microsoft.com/office/officeart/2011/layout/TabList"/>
    <dgm:cxn modelId="{1A3BB3A0-8311-4A79-86D9-E732223A447E}" type="presParOf" srcId="{C16A69B5-D97C-457E-BD51-1353DFE67AE7}" destId="{05D3F53E-33DC-401D-86B4-5FE8C81A6FEF}" srcOrd="1" destOrd="0" presId="urn:microsoft.com/office/officeart/2011/layout/TabList"/>
    <dgm:cxn modelId="{8C9866EC-0E16-4F32-94C9-CC6866D80501}" type="presParOf" srcId="{C16A69B5-D97C-457E-BD51-1353DFE67AE7}" destId="{B53B6C99-E7DC-40EE-A443-E982DAF1C728}" srcOrd="2" destOrd="0" presId="urn:microsoft.com/office/officeart/2011/layout/TabList"/>
    <dgm:cxn modelId="{25B89FED-4F86-4591-8995-914E62366854}" type="presParOf" srcId="{EB59EAD4-055A-4EB3-9268-17165F7D229E}" destId="{23F77289-44EC-438C-9C6D-1D052851246C}" srcOrd="1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5493C-1CBE-40D0-B6A0-0237B08AE5EF}">
      <dsp:nvSpPr>
        <dsp:cNvPr id="0" name=""/>
        <dsp:cNvSpPr/>
      </dsp:nvSpPr>
      <dsp:spPr>
        <a:xfrm>
          <a:off x="0" y="633920"/>
          <a:ext cx="6721856" cy="0"/>
        </a:xfrm>
        <a:prstGeom prst="line">
          <a:avLst/>
        </a:pr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1D90EE-E6F0-4760-9832-22E5AAE5E477}">
      <dsp:nvSpPr>
        <dsp:cNvPr id="0" name=""/>
        <dsp:cNvSpPr/>
      </dsp:nvSpPr>
      <dsp:spPr>
        <a:xfrm>
          <a:off x="1747682" y="0"/>
          <a:ext cx="4974173" cy="63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b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>
              <a:latin typeface="Raleway" pitchFamily="2" charset="0"/>
              <a:ea typeface="Roboto" panose="02000000000000000000" pitchFamily="2" charset="0"/>
              <a:cs typeface="Roboto" panose="02000000000000000000" pitchFamily="2" charset="0"/>
            </a:rPr>
            <a:t>1.8b</a:t>
          </a:r>
        </a:p>
      </dsp:txBody>
      <dsp:txXfrm>
        <a:off x="1747682" y="0"/>
        <a:ext cx="4974173" cy="633920"/>
      </dsp:txXfrm>
    </dsp:sp>
    <dsp:sp modelId="{24DA7730-927D-42CB-8ED5-8FD998B69726}">
      <dsp:nvSpPr>
        <dsp:cNvPr id="0" name=""/>
        <dsp:cNvSpPr/>
      </dsp:nvSpPr>
      <dsp:spPr>
        <a:xfrm>
          <a:off x="0" y="0"/>
          <a:ext cx="1747682" cy="633920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kern="1200" dirty="0">
              <a:solidFill>
                <a:schemeClr val="tx1"/>
              </a:solidFill>
              <a:latin typeface="Raleway" pitchFamily="2" charset="0"/>
            </a:rPr>
            <a:t>Moondream</a:t>
          </a:r>
        </a:p>
      </dsp:txBody>
      <dsp:txXfrm>
        <a:off x="30951" y="30951"/>
        <a:ext cx="1685780" cy="602969"/>
      </dsp:txXfrm>
    </dsp:sp>
    <dsp:sp modelId="{3968B64B-4822-47DF-A282-627BE788FAEB}">
      <dsp:nvSpPr>
        <dsp:cNvPr id="0" name=""/>
        <dsp:cNvSpPr/>
      </dsp:nvSpPr>
      <dsp:spPr>
        <a:xfrm>
          <a:off x="0" y="633920"/>
          <a:ext cx="6721856" cy="1268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7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Ground Truth: Two wooden crates stacked on top of each other, each labeled with a number.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7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AI Captions: Containers on top of each other in a warehouse.</a:t>
          </a:r>
        </a:p>
      </dsp:txBody>
      <dsp:txXfrm>
        <a:off x="0" y="633920"/>
        <a:ext cx="6721856" cy="12680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3B6C99-E7DC-40EE-A443-E982DAF1C728}">
      <dsp:nvSpPr>
        <dsp:cNvPr id="0" name=""/>
        <dsp:cNvSpPr/>
      </dsp:nvSpPr>
      <dsp:spPr>
        <a:xfrm>
          <a:off x="0" y="636629"/>
          <a:ext cx="6721856" cy="0"/>
        </a:xfrm>
        <a:prstGeom prst="line">
          <a:avLst/>
        </a:prstGeom>
        <a:noFill/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CF0F59-07F0-4FC7-B365-40F2F66C1BB0}">
      <dsp:nvSpPr>
        <dsp:cNvPr id="0" name=""/>
        <dsp:cNvSpPr/>
      </dsp:nvSpPr>
      <dsp:spPr>
        <a:xfrm>
          <a:off x="1747682" y="0"/>
          <a:ext cx="4974173" cy="6366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latin typeface="Raleway" pitchFamily="2" charset="0"/>
            </a:rPr>
            <a:t>3b</a:t>
          </a:r>
        </a:p>
      </dsp:txBody>
      <dsp:txXfrm>
        <a:off x="1747682" y="0"/>
        <a:ext cx="4974173" cy="636629"/>
      </dsp:txXfrm>
    </dsp:sp>
    <dsp:sp modelId="{05D3F53E-33DC-401D-86B4-5FE8C81A6FEF}">
      <dsp:nvSpPr>
        <dsp:cNvPr id="0" name=""/>
        <dsp:cNvSpPr/>
      </dsp:nvSpPr>
      <dsp:spPr>
        <a:xfrm>
          <a:off x="0" y="0"/>
          <a:ext cx="1747682" cy="636629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solidFill>
                <a:schemeClr val="tx1"/>
              </a:solidFill>
              <a:latin typeface="Raleway" pitchFamily="2" charset="0"/>
            </a:rPr>
            <a:t>Qwen2.5VL</a:t>
          </a:r>
        </a:p>
      </dsp:txBody>
      <dsp:txXfrm>
        <a:off x="31083" y="31083"/>
        <a:ext cx="1685516" cy="605546"/>
      </dsp:txXfrm>
    </dsp:sp>
    <dsp:sp modelId="{23F77289-44EC-438C-9C6D-1D052851246C}">
      <dsp:nvSpPr>
        <dsp:cNvPr id="0" name=""/>
        <dsp:cNvSpPr/>
      </dsp:nvSpPr>
      <dsp:spPr>
        <a:xfrm>
          <a:off x="0" y="636629"/>
          <a:ext cx="6721856" cy="1273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Ground Truth: </a:t>
          </a:r>
          <a:r>
            <a:rPr lang="en-US" sz="12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Two wooden crates stacked on top of each other , each labeled with a number</a:t>
          </a:r>
          <a:endParaRPr lang="de-DE" sz="1200" kern="1200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2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AI Captions: </a:t>
          </a:r>
          <a:r>
            <a:rPr lang="en-US" sz="1200" kern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rPr>
            <a:t>A stack of wooden crates, each labeled with '190401' and '2X', secured with metal brackets.</a:t>
          </a:r>
          <a:endParaRPr lang="de-DE" sz="1200" kern="1200" dirty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endParaRPr>
        </a:p>
      </dsp:txBody>
      <dsp:txXfrm>
        <a:off x="0" y="636629"/>
        <a:ext cx="6721856" cy="1273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8E236-CB0A-44B4-9DE6-E775119EE181}" type="datetimeFigureOut">
              <a:rPr lang="de-DE" smtClean="0"/>
              <a:t>11.06.2026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4AA362-4B50-46D9-BD8E-E2D805323E2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872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1CB0E-0505-C7FF-830B-15A0A3609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452D63-2259-5D9F-E885-68D2994A3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A3B5A8-7B85-21A0-6A81-90159AAE6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6934E-3DDE-81F4-588B-E374629041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9989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99578-0044-256A-796B-7A2506918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34248-0C3A-0099-57F1-CC062E90E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C5EBC7-EC20-0E39-EFF4-76D636067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F25FD-679B-B5D2-ECD7-11F47EC9B1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5835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672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59014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6113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39938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560202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2646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7927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601530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080323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091593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13273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69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.emf"/><Relationship Id="rId4" Type="http://schemas.openxmlformats.org/officeDocument/2006/relationships/diagramLayout" Target="../diagrams/layout1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5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4B401-F8BB-E7C7-C848-5DA18A30E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645D3E-CA2D-DC2A-88C6-2055566A3656}"/>
              </a:ext>
            </a:extLst>
          </p:cNvPr>
          <p:cNvSpPr/>
          <p:nvPr/>
        </p:nvSpPr>
        <p:spPr>
          <a:xfrm>
            <a:off x="599481" y="474465"/>
            <a:ext cx="1012765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04000"/>
              </a:lnSpc>
            </a:pPr>
            <a:r>
              <a:rPr lang="de-DE" sz="2933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Training Examples</a:t>
            </a:r>
            <a:r>
              <a:rPr lang="en-US" sz="2933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47" name="Diagram 46">
            <a:extLst>
              <a:ext uri="{FF2B5EF4-FFF2-40B4-BE49-F238E27FC236}">
                <a16:creationId xmlns:a16="http://schemas.microsoft.com/office/drawing/2014/main" id="{ECD7ABD1-8B95-2F5B-3E8F-56BAD17BD3F7}"/>
              </a:ext>
            </a:extLst>
          </p:cNvPr>
          <p:cNvGraphicFramePr/>
          <p:nvPr/>
        </p:nvGraphicFramePr>
        <p:xfrm>
          <a:off x="599480" y="1414272"/>
          <a:ext cx="6721856" cy="1901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1C79137D-3F9C-160A-97F6-80B8693D4E98}"/>
              </a:ext>
            </a:extLst>
          </p:cNvPr>
          <p:cNvSpPr/>
          <p:nvPr/>
        </p:nvSpPr>
        <p:spPr>
          <a:xfrm>
            <a:off x="780288" y="3080513"/>
            <a:ext cx="10631424" cy="453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de-DE" sz="240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571CA35-A408-AB3B-10CB-F15E96636BC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909" b="26574"/>
          <a:stretch>
            <a:fillRect/>
          </a:stretch>
        </p:blipFill>
        <p:spPr>
          <a:xfrm>
            <a:off x="8033338" y="600950"/>
            <a:ext cx="3180428" cy="2277873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F7E8FCFD-E03D-ECF0-9172-92C3DC138C54}"/>
              </a:ext>
            </a:extLst>
          </p:cNvPr>
          <p:cNvSpPr/>
          <p:nvPr/>
        </p:nvSpPr>
        <p:spPr>
          <a:xfrm>
            <a:off x="7835392" y="474465"/>
            <a:ext cx="3576320" cy="25308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de-DE" sz="240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EC880A-1B8D-551A-4AD2-091E117F4C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288" y="3716434"/>
            <a:ext cx="10631424" cy="27841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F768C-7396-5FCF-B899-57145699CD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541" y="3157537"/>
            <a:ext cx="10253224" cy="32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694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73164-CAE4-75B0-18DC-B523FDBA4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E57173-8AB5-CBE2-4772-140D52F2FDE2}"/>
              </a:ext>
            </a:extLst>
          </p:cNvPr>
          <p:cNvSpPr/>
          <p:nvPr/>
        </p:nvSpPr>
        <p:spPr>
          <a:xfrm>
            <a:off x="599481" y="474465"/>
            <a:ext cx="1012765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1219170">
              <a:lnSpc>
                <a:spcPct val="104000"/>
              </a:lnSpc>
            </a:pPr>
            <a:r>
              <a:rPr lang="de-DE" sz="2933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Training Examples</a:t>
            </a:r>
            <a:r>
              <a:rPr lang="en-US" sz="2933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47" name="Diagram 46">
            <a:extLst>
              <a:ext uri="{FF2B5EF4-FFF2-40B4-BE49-F238E27FC236}">
                <a16:creationId xmlns:a16="http://schemas.microsoft.com/office/drawing/2014/main" id="{DF2E9AC0-58EC-9B3C-85C0-B48C7D77CD6D}"/>
              </a:ext>
            </a:extLst>
          </p:cNvPr>
          <p:cNvGraphicFramePr/>
          <p:nvPr/>
        </p:nvGraphicFramePr>
        <p:xfrm>
          <a:off x="599480" y="1414272"/>
          <a:ext cx="6721856" cy="1910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FF66277-112B-B632-6FA5-F704202160C0}"/>
              </a:ext>
            </a:extLst>
          </p:cNvPr>
          <p:cNvSpPr/>
          <p:nvPr/>
        </p:nvSpPr>
        <p:spPr>
          <a:xfrm>
            <a:off x="780288" y="3080513"/>
            <a:ext cx="10631424" cy="453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de-DE" sz="240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29B26D-06B1-C662-FD5D-E69B728D102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909" b="26574"/>
          <a:stretch>
            <a:fillRect/>
          </a:stretch>
        </p:blipFill>
        <p:spPr>
          <a:xfrm>
            <a:off x="8033338" y="600950"/>
            <a:ext cx="3180428" cy="227787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9B8EC48-3CD7-CDEE-3D5D-99A17C45FF2D}"/>
              </a:ext>
            </a:extLst>
          </p:cNvPr>
          <p:cNvSpPr/>
          <p:nvPr/>
        </p:nvSpPr>
        <p:spPr>
          <a:xfrm>
            <a:off x="7835392" y="474465"/>
            <a:ext cx="3576320" cy="25308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de-DE" sz="240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1E8CF4-4FA7-BBF3-85E5-82A4A885B3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542" y="3163686"/>
            <a:ext cx="10270917" cy="3130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F22D22-24D1-E8CF-887B-994197851C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288" y="3740576"/>
            <a:ext cx="10631424" cy="267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4268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Widescreen</PresentationFormat>
  <Paragraphs>12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Raleway</vt:lpstr>
      <vt:lpstr>Roboto</vt:lpstr>
      <vt:lpstr>1_Office Theme</vt:lpstr>
      <vt:lpstr>PowerPoint Presentation</vt:lpstr>
      <vt:lpstr>PowerPoint Presentation</vt:lpstr>
    </vt:vector>
  </TitlesOfParts>
  <Company>Forschungszentrum Jülich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Patil, Vibhav</dc:creator>
  <cp:lastModifiedBy>Patil, Vibhav</cp:lastModifiedBy>
  <cp:revision>2</cp:revision>
  <dcterms:created xsi:type="dcterms:W3CDTF">2026-06-11T11:31:03Z</dcterms:created>
  <dcterms:modified xsi:type="dcterms:W3CDTF">2026-06-11T11:32:40Z</dcterms:modified>
</cp:coreProperties>
</file>